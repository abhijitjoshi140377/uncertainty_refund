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7" r:id="rId5"/>
    <p:sldId id="259" r:id="rId6"/>
    <p:sldId id="262" r:id="rId7"/>
    <p:sldId id="263" r:id="rId8"/>
    <p:sldId id="266" r:id="rId9"/>
    <p:sldId id="264" r:id="rId10"/>
    <p:sldId id="261" r:id="rId11"/>
    <p:sldId id="271" r:id="rId12"/>
    <p:sldId id="269" r:id="rId13"/>
    <p:sldId id="268" r:id="rId14"/>
    <p:sldId id="265" r:id="rId15"/>
    <p:sldId id="260" r:id="rId16"/>
    <p:sldId id="270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850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C02C2-B9AC-9F12-926B-8C0F73EA3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4DA17-2F08-F57B-9F0F-C5D14F80C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B7A40-C32F-A4C2-AF57-FC8728964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783FF-69DF-D7D4-3A6C-5A9DF3EC6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37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E4EE-D658-2906-82A1-B466ADA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A42DE-919C-A470-397E-9C3B5B013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C7190-226D-BD13-79EF-AC88B3491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F8DB8-A6DE-2038-041D-10AACD8DE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787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867A-E5BB-B894-36D2-3FCAEB26E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E4922-5615-D6EA-29AA-E77F8F33C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865058-894C-0206-EA48-DA0594EE5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660B7-CC6E-8634-F273-55329164D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45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C86B-6B00-396E-C958-ADC3A73C9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32193-1C94-13DC-657A-979A68B5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403EF-85CB-3427-EAF1-A89CBCF11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3360C-71C9-7C9E-C388-A5F5B797E9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21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B3A83-4848-5161-9300-F21940ADB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6CE98-B84A-FC7B-F1E7-45E488702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16BE91-9F3A-3F2E-5417-317EEB0C9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846DB-9A31-8308-4E8B-808D6D46E7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82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AD4D-F4A7-8E7A-196D-6DC44AE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BA11E-8D99-7B7C-502A-6D2A23C5E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D3942-5F7B-75F6-B729-4ACBC95DA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59D3D-C2B0-D67F-F227-2F7D553C31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50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60F3F-85F2-E934-B7B8-BE723268D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BCF63-687B-1B07-344B-450811A7C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494E1-0E8A-BA4C-09BD-3BB4544BF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EFC2E-228A-24B1-65D5-55EEE8198C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56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D1F9-01E9-6219-3547-4623ECD0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99BBE-088A-9235-9C29-2C7E52C89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E5A54-FAC8-B7E2-B828-9AC3F5C4D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5F721-234F-6C4E-8D0B-CAEACB991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54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50A92-D311-3854-6755-725C4185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190E6-0C35-B792-A9C3-4489EB470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A21AD-678E-47BA-DE25-53B8BE670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85E48-F672-CCC0-EC40-5DB1AD008E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92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53655-0B91-9737-A1F5-610708FB5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2906E9-720D-65F7-FD7F-0A0A712A0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3CE68-6F43-2074-D26D-2FE23FC3BB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80557-76D3-9884-8838-C68ACE1E4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039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CB87-EDF0-C3A5-CA71-5651E175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BF8A6-19BF-CF79-BDC6-34F470F73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78976-6AA0-87C9-34BC-47CDDB5AD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EFB7F-F4D7-5E1F-C32F-8779E6773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3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famished-vertebrae-basil.ngrok-free.dev/api/bookings" TargetMode="External"/><Relationship Id="rId3" Type="http://schemas.openxmlformats.org/officeDocument/2006/relationships/hyperlink" Target="http://localhost:3000/" TargetMode="External"/><Relationship Id="rId7" Type="http://schemas.openxmlformats.org/officeDocument/2006/relationships/hyperlink" Target="https://famished-vertebrae-basil.ngrok-free.dev/api/healt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localhost:8000/api/health" TargetMode="External"/><Relationship Id="rId5" Type="http://schemas.openxmlformats.org/officeDocument/2006/relationships/hyperlink" Target="http://localhost:8000/api/docs" TargetMode="External"/><Relationship Id="rId4" Type="http://schemas.openxmlformats.org/officeDocument/2006/relationships/hyperlink" Target="http://localhost:8000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ervicesessentials.ibm.com/curatorai/apps/ui/newchat/6a1130cc7f44ef312d06b0c9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80160" y="1394460"/>
            <a:ext cx="732223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Cost Refund Intelligence Platform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280160" y="21717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travel cost refund estimation &amp; risk monitoring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2985516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D6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80160" y="29855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Modeling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2985516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D6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11880" y="29855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Majeure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85516"/>
            <a:ext cx="2148840" cy="384048"/>
          </a:xfrm>
          <a:prstGeom prst="roundRect">
            <a:avLst>
              <a:gd name="adj" fmla="val 28571"/>
            </a:avLst>
          </a:prstGeom>
          <a:solidFill>
            <a:srgbClr val="D6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0" y="29855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56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Uncertain Travel Cost Refund Outcomes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majeure events make refund decisions unpredictable — no consistent framework exists.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92040" y="12070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Manual &amp; Slow Estimation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5727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teams rely on ad-hoc judgment, creating inconsistent and hard-to-explain decisions.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Unified Historical 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644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refund outcomes are scattered — impossible to compare across calamity types or booking components.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92040" y="28986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Risk Visibility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32644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disruptions (war, pandemic, disaster) are not linked to refund reasoning in real-time.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64008" cy="109728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Refund Estimation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904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Gradient Boosting &amp; Rule-based models with confidence ranges &amp; risk scores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313432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2313432"/>
            <a:ext cx="64008" cy="109728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Booking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523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booking lifecycle with component-level cost tracking and refund workflows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575304"/>
            <a:ext cx="41605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11480" y="3575304"/>
            <a:ext cx="64008" cy="109728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36667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Event Monitor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0142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disruptions (war, disaster, pandemic) — directly feeds refund reasoning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51560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0" y="1161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Model Comparator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5544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Auto / Random Forest / Gradient Boosting / Rule-based side by side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16936"/>
            <a:ext cx="41605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54880" y="2916936"/>
            <a:ext cx="64008" cy="164592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37760" y="30266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Historical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41985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past refund patterns to explain and validate current estimates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4617720"/>
            <a:ext cx="4160520" cy="347472"/>
          </a:xfrm>
          <a:prstGeom prst="rect">
            <a:avLst/>
          </a:prstGeom>
          <a:solidFill>
            <a:srgbClr val="D6F5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4617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Real-time bell notifications for new bookings &amp; risk events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0A8A4-D27C-4167-FFF9-491948DB4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D79F357-E653-70FB-001A-5E3581CD965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EA191D-65F8-4DC8-0C53-BA1C5EC297D2}"/>
              </a:ext>
            </a:extLst>
          </p:cNvPr>
          <p:cNvSpPr/>
          <p:nvPr/>
        </p:nvSpPr>
        <p:spPr>
          <a:xfrm>
            <a:off x="618982" y="-9319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5CB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Bob-a-thon Journey: 8 steps to success</a:t>
            </a:r>
            <a:endParaRPr lang="en-US" sz="2000" dirty="0">
              <a:latin typeface="IBM Plex Sans" panose="020B0503050203000203" pitchFamily="34" charset="0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192AA6CA-FF2A-C3FA-FF88-9108EB8FA164}"/>
              </a:ext>
            </a:extLst>
          </p:cNvPr>
          <p:cNvSpPr txBox="1">
            <a:spLocks/>
          </p:cNvSpPr>
          <p:nvPr/>
        </p:nvSpPr>
        <p:spPr>
          <a:xfrm>
            <a:off x="429066" y="463673"/>
            <a:ext cx="8229600" cy="184990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IBM Plex Sans" panose="020B0503050203000203" pitchFamily="34" charset="0"/>
              </a:rPr>
              <a:t>1. Project Ideation with Bob AI Assistant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2. Building Complete Full-Stack Application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3. Creating Context Graph with Detailed Schema (812 lines)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4. Implementing MCP Server with JSON-RPC 2.0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5. Creating Basic Agent in ICA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6. Building Agent Orchestration with </a:t>
            </a:r>
            <a:r>
              <a:rPr lang="en-US" sz="1200" dirty="0" err="1">
                <a:latin typeface="IBM Plex Sans" panose="020B0503050203000203" pitchFamily="34" charset="0"/>
              </a:rPr>
              <a:t>LangGraph</a:t>
            </a:r>
            <a:endParaRPr lang="en-US" sz="1200" dirty="0">
              <a:latin typeface="IBM Plex Sans" panose="020B0503050203000203" pitchFamily="34" charset="0"/>
            </a:endParaRP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7. Linking Agent to MCP Server</a:t>
            </a:r>
          </a:p>
          <a:p>
            <a:pPr>
              <a:defRPr sz="1800"/>
            </a:pPr>
            <a:r>
              <a:rPr lang="en-US" sz="1200" dirty="0">
                <a:latin typeface="IBM Plex Sans" panose="020B0503050203000203" pitchFamily="34" charset="0"/>
              </a:rPr>
              <a:t>8. Demo Preparation and Testing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BB01122-B98C-4453-1C76-E7A1DB80F1EE}"/>
              </a:ext>
            </a:extLst>
          </p:cNvPr>
          <p:cNvSpPr txBox="1">
            <a:spLocks/>
          </p:cNvSpPr>
          <p:nvPr/>
        </p:nvSpPr>
        <p:spPr>
          <a:xfrm>
            <a:off x="604912" y="2554328"/>
            <a:ext cx="7842739" cy="34434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7C5CBF"/>
                </a:solidFill>
                <a:latin typeface="IBM Plex Sans" panose="020B0503050203000203" pitchFamily="34" charset="0"/>
                <a:ea typeface="Calibri" pitchFamily="34" charset="-122"/>
                <a:cs typeface="Calibri" pitchFamily="34" charset="-120"/>
              </a:rPr>
              <a:t>Project Ideation with Bob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80BCC720-B69E-D379-7B05-7B500D843753}"/>
              </a:ext>
            </a:extLst>
          </p:cNvPr>
          <p:cNvSpPr txBox="1">
            <a:spLocks/>
          </p:cNvSpPr>
          <p:nvPr/>
        </p:nvSpPr>
        <p:spPr>
          <a:xfrm>
            <a:off x="411480" y="3025193"/>
            <a:ext cx="8229601" cy="20028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IBM Plex Sans" panose="020B0503050203000203" pitchFamily="34" charset="0"/>
              </a:rPr>
              <a:t>Problem Statement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Travel companies struggle with refund estimation during force majeure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Manual process is inconsistent and time-consuming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Customers need transparent, data-driven estimates</a:t>
            </a:r>
          </a:p>
          <a:p>
            <a:pPr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Solution: AI-Powered System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ML predictions with 95% confidence intervals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Real-time risk assessment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Multi-component booking support</a:t>
            </a:r>
          </a:p>
          <a:p>
            <a:pPr lvl="1">
              <a:defRPr sz="1600"/>
            </a:pPr>
            <a:r>
              <a:rPr lang="en-IN" sz="1200" dirty="0">
                <a:latin typeface="IBM Plex Sans" panose="020B0503050203000203" pitchFamily="34" charset="0"/>
              </a:rPr>
              <a:t>IBM ICA integration for enterprise deployment</a:t>
            </a:r>
          </a:p>
        </p:txBody>
      </p:sp>
    </p:spTree>
    <p:extLst>
      <p:ext uri="{BB962C8B-B14F-4D97-AF65-F5344CB8AC3E}">
        <p14:creationId xmlns:p14="http://schemas.microsoft.com/office/powerpoint/2010/main" val="331725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096586" y="5712"/>
            <a:ext cx="1836105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C0DAF5-D407-AC5E-F9A3-A5367FF58F8E}"/>
              </a:ext>
            </a:extLst>
          </p:cNvPr>
          <p:cNvSpPr txBox="1">
            <a:spLocks/>
          </p:cNvSpPr>
          <p:nvPr/>
        </p:nvSpPr>
        <p:spPr>
          <a:xfrm>
            <a:off x="247592" y="672904"/>
            <a:ext cx="3172264" cy="42859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>
                <a:latin typeface="IBM Plex Sans" panose="020B0503050203000203" pitchFamily="34" charset="0"/>
              </a:rPr>
              <a:t>Frontend: React 18 + Vite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7 pages: Dashboard, Bookings, Analytics, Risk Monitor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Interactive charts with Recharts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Responsive design with SCSS</a:t>
            </a:r>
          </a:p>
          <a:p>
            <a:pPr>
              <a:defRPr sz="1400"/>
            </a:pPr>
            <a:endParaRPr lang="en-IN" sz="1200" dirty="0">
              <a:latin typeface="IBM Plex Sans" panose="020B0503050203000203" pitchFamily="34" charset="0"/>
            </a:endParaRPr>
          </a:p>
          <a:p>
            <a:pPr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Backend: </a:t>
            </a:r>
            <a:r>
              <a:rPr lang="en-IN" sz="1200" dirty="0" err="1">
                <a:latin typeface="IBM Plex Sans" panose="020B0503050203000203" pitchFamily="34" charset="0"/>
              </a:rPr>
              <a:t>FastAPI</a:t>
            </a:r>
            <a:r>
              <a:rPr lang="en-IN" sz="1200" dirty="0">
                <a:latin typeface="IBM Plex Sans" panose="020B0503050203000203" pitchFamily="34" charset="0"/>
              </a:rPr>
              <a:t> + Python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11 REST API endpoints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SQLite database with </a:t>
            </a:r>
            <a:r>
              <a:rPr lang="en-IN" sz="1200" dirty="0" err="1">
                <a:latin typeface="IBM Plex Sans" panose="020B0503050203000203" pitchFamily="34" charset="0"/>
              </a:rPr>
              <a:t>SQLAlchemy</a:t>
            </a:r>
            <a:r>
              <a:rPr lang="en-IN" sz="1200" dirty="0">
                <a:latin typeface="IBM Plex Sans" panose="020B0503050203000203" pitchFamily="34" charset="0"/>
              </a:rPr>
              <a:t> ORM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500+ synthetic records for testing</a:t>
            </a:r>
          </a:p>
          <a:p>
            <a:pPr>
              <a:defRPr sz="1400"/>
            </a:pPr>
            <a:endParaRPr lang="en-IN" sz="1200" dirty="0">
              <a:latin typeface="IBM Plex Sans" panose="020B0503050203000203" pitchFamily="34" charset="0"/>
            </a:endParaRPr>
          </a:p>
          <a:p>
            <a:pPr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ML Models: scikit-learn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Random Forest + Gradient Boosting ensemble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95% confidence interval calculation</a:t>
            </a:r>
          </a:p>
          <a:p>
            <a:pPr lvl="1">
              <a:defRPr sz="1400"/>
            </a:pPr>
            <a:r>
              <a:rPr lang="en-IN" sz="1200" dirty="0">
                <a:latin typeface="IBM Plex Sans" panose="020B0503050203000203" pitchFamily="34" charset="0"/>
              </a:rPr>
              <a:t>Uncertainty quantification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EF4D86B-3723-1387-E253-360C29743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856" y="754505"/>
            <a:ext cx="5534257" cy="41227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10C915-3E0A-2C4F-ED81-2C75B39A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8A6D02-2BBA-5EB7-32CB-2706972DD19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537446-F92A-BC39-1013-730F4935E010}"/>
              </a:ext>
            </a:extLst>
          </p:cNvPr>
          <p:cNvSpPr/>
          <p:nvPr/>
        </p:nvSpPr>
        <p:spPr>
          <a:xfrm>
            <a:off x="4096586" y="62284"/>
            <a:ext cx="1836105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Screens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9D0A45D-D90F-DBDB-E851-CACA993AC880}"/>
              </a:ext>
            </a:extLst>
          </p:cNvPr>
          <p:cNvSpPr/>
          <p:nvPr/>
        </p:nvSpPr>
        <p:spPr>
          <a:xfrm>
            <a:off x="154727" y="629772"/>
            <a:ext cx="3084007" cy="1709928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DCE3578-B31D-186D-3302-B609E6FE6462}"/>
              </a:ext>
            </a:extLst>
          </p:cNvPr>
          <p:cNvSpPr/>
          <p:nvPr/>
        </p:nvSpPr>
        <p:spPr>
          <a:xfrm>
            <a:off x="241703" y="702924"/>
            <a:ext cx="2911500" cy="1580850"/>
          </a:xfrm>
          <a:prstGeom prst="rect">
            <a:avLst/>
          </a:prstGeom>
          <a:solidFill>
            <a:srgbClr val="EEE8FF"/>
          </a:solidFill>
          <a:ln w="12700">
            <a:solidFill>
              <a:srgbClr val="C3B5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3B86F8B-81CD-8D2A-9BE3-2A58029669C1}"/>
              </a:ext>
            </a:extLst>
          </p:cNvPr>
          <p:cNvSpPr/>
          <p:nvPr/>
        </p:nvSpPr>
        <p:spPr>
          <a:xfrm>
            <a:off x="1052568" y="353325"/>
            <a:ext cx="1448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7359D22-E515-B8C8-7C7F-DFCDD78E9F58}"/>
              </a:ext>
            </a:extLst>
          </p:cNvPr>
          <p:cNvSpPr/>
          <p:nvPr/>
        </p:nvSpPr>
        <p:spPr>
          <a:xfrm>
            <a:off x="6164747" y="603439"/>
            <a:ext cx="2940986" cy="1783080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021B396-8CF4-B590-4525-3C035D27D825}"/>
              </a:ext>
            </a:extLst>
          </p:cNvPr>
          <p:cNvSpPr/>
          <p:nvPr/>
        </p:nvSpPr>
        <p:spPr>
          <a:xfrm>
            <a:off x="6226722" y="676591"/>
            <a:ext cx="2785410" cy="1636776"/>
          </a:xfrm>
          <a:prstGeom prst="rect">
            <a:avLst/>
          </a:prstGeom>
          <a:solidFill>
            <a:srgbClr val="EEE8FF"/>
          </a:solidFill>
          <a:ln w="12700">
            <a:solidFill>
              <a:srgbClr val="C3B5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0DBD82-E62B-718C-FBC4-36CB6516F16E}"/>
              </a:ext>
            </a:extLst>
          </p:cNvPr>
          <p:cNvSpPr/>
          <p:nvPr/>
        </p:nvSpPr>
        <p:spPr>
          <a:xfrm>
            <a:off x="6848509" y="305379"/>
            <a:ext cx="1448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Analytics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A9A2A54-9462-7E72-8902-5EBB04C84A85}"/>
              </a:ext>
            </a:extLst>
          </p:cNvPr>
          <p:cNvSpPr/>
          <p:nvPr/>
        </p:nvSpPr>
        <p:spPr>
          <a:xfrm>
            <a:off x="188964" y="3258781"/>
            <a:ext cx="3084007" cy="1783080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BD67EC7-753C-D859-E58A-00838063C6DB}"/>
              </a:ext>
            </a:extLst>
          </p:cNvPr>
          <p:cNvSpPr/>
          <p:nvPr/>
        </p:nvSpPr>
        <p:spPr>
          <a:xfrm>
            <a:off x="275939" y="3331933"/>
            <a:ext cx="2962795" cy="1636776"/>
          </a:xfrm>
          <a:prstGeom prst="rect">
            <a:avLst/>
          </a:prstGeom>
          <a:solidFill>
            <a:srgbClr val="EEE8FF"/>
          </a:solidFill>
          <a:ln w="12700">
            <a:solidFill>
              <a:srgbClr val="C3B5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AC754B7-F5C9-357E-2006-87C8BC25CAFB}"/>
              </a:ext>
            </a:extLst>
          </p:cNvPr>
          <p:cNvSpPr/>
          <p:nvPr/>
        </p:nvSpPr>
        <p:spPr>
          <a:xfrm>
            <a:off x="1121040" y="2981562"/>
            <a:ext cx="137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EC7992D-F709-1C62-44A8-35632DC9D7F3}"/>
              </a:ext>
            </a:extLst>
          </p:cNvPr>
          <p:cNvSpPr/>
          <p:nvPr/>
        </p:nvSpPr>
        <p:spPr>
          <a:xfrm>
            <a:off x="6164747" y="3290569"/>
            <a:ext cx="2943143" cy="1783080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341EA1E-77AE-208C-0FA0-56D5577EAB82}"/>
              </a:ext>
            </a:extLst>
          </p:cNvPr>
          <p:cNvSpPr/>
          <p:nvPr/>
        </p:nvSpPr>
        <p:spPr>
          <a:xfrm>
            <a:off x="6276095" y="3363721"/>
            <a:ext cx="2738196" cy="1636776"/>
          </a:xfrm>
          <a:prstGeom prst="rect">
            <a:avLst/>
          </a:prstGeom>
          <a:solidFill>
            <a:srgbClr val="EEE8FF"/>
          </a:solidFill>
          <a:ln w="12700">
            <a:solidFill>
              <a:srgbClr val="C3B5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809B21C-AC20-3BE6-9F15-969A981AA593}"/>
              </a:ext>
            </a:extLst>
          </p:cNvPr>
          <p:cNvSpPr/>
          <p:nvPr/>
        </p:nvSpPr>
        <p:spPr>
          <a:xfrm>
            <a:off x="6938491" y="3003253"/>
            <a:ext cx="14559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Comparator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F341398-4674-4547-93EC-649CAFCDE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23" y="737373"/>
            <a:ext cx="2753968" cy="14871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3223E4-A668-FEAB-5E32-31FE1E767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03" y="3350725"/>
            <a:ext cx="2692800" cy="159442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C3BD39B-FDE6-8A77-D005-1F0557AD3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949" y="3392530"/>
            <a:ext cx="2635923" cy="1576179"/>
          </a:xfrm>
          <a:prstGeom prst="rect">
            <a:avLst/>
          </a:prstGeom>
        </p:spPr>
      </p:pic>
      <p:sp>
        <p:nvSpPr>
          <p:cNvPr id="31" name="Shape 7">
            <a:extLst>
              <a:ext uri="{FF2B5EF4-FFF2-40B4-BE49-F238E27FC236}">
                <a16:creationId xmlns:a16="http://schemas.microsoft.com/office/drawing/2014/main" id="{A8F58602-F58A-E46F-A39A-16D7DBE8BF7C}"/>
              </a:ext>
            </a:extLst>
          </p:cNvPr>
          <p:cNvSpPr/>
          <p:nvPr/>
        </p:nvSpPr>
        <p:spPr>
          <a:xfrm>
            <a:off x="3333641" y="2159781"/>
            <a:ext cx="2770436" cy="1338220"/>
          </a:xfrm>
          <a:prstGeom prst="rect">
            <a:avLst/>
          </a:prstGeom>
          <a:solidFill>
            <a:srgbClr val="EEE8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29DE832C-A704-2D91-EEF7-57BA64AA1297}"/>
              </a:ext>
            </a:extLst>
          </p:cNvPr>
          <p:cNvSpPr/>
          <p:nvPr/>
        </p:nvSpPr>
        <p:spPr>
          <a:xfrm>
            <a:off x="3365266" y="2206600"/>
            <a:ext cx="2667469" cy="1230442"/>
          </a:xfrm>
          <a:prstGeom prst="rect">
            <a:avLst/>
          </a:prstGeom>
          <a:solidFill>
            <a:srgbClr val="EEE8FF"/>
          </a:solidFill>
          <a:ln w="12700">
            <a:solidFill>
              <a:srgbClr val="C3B5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5BE4CAA-A02E-81B6-0126-88D0481F1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6417" y="705526"/>
            <a:ext cx="2718455" cy="151902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868C13B-C0A4-CE74-21CD-4E0112EFBF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6393" y="2254138"/>
            <a:ext cx="2539230" cy="1138392"/>
          </a:xfrm>
          <a:prstGeom prst="rect">
            <a:avLst/>
          </a:prstGeom>
        </p:spPr>
      </p:pic>
      <p:sp>
        <p:nvSpPr>
          <p:cNvPr id="37" name="Text 9">
            <a:extLst>
              <a:ext uri="{FF2B5EF4-FFF2-40B4-BE49-F238E27FC236}">
                <a16:creationId xmlns:a16="http://schemas.microsoft.com/office/drawing/2014/main" id="{D90264FC-E3DB-7FE7-F98B-215AB5A8E448}"/>
              </a:ext>
            </a:extLst>
          </p:cNvPr>
          <p:cNvSpPr/>
          <p:nvPr/>
        </p:nvSpPr>
        <p:spPr>
          <a:xfrm>
            <a:off x="3893424" y="1832249"/>
            <a:ext cx="1448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Details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46432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E5338-09D5-EB0C-E725-2F32771F5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0387A9-071C-0888-9DC9-BEA601AEC74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CC7B74-041A-5C32-1E94-DBEB88EC340F}"/>
              </a:ext>
            </a:extLst>
          </p:cNvPr>
          <p:cNvSpPr/>
          <p:nvPr/>
        </p:nvSpPr>
        <p:spPr>
          <a:xfrm>
            <a:off x="4096586" y="62284"/>
            <a:ext cx="1628965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Studio</a:t>
            </a:r>
            <a:endParaRPr 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966DD-F9A9-3CA3-9F12-6C612E973694}"/>
              </a:ext>
            </a:extLst>
          </p:cNvPr>
          <p:cNvSpPr txBox="1">
            <a:spLocks/>
          </p:cNvSpPr>
          <p:nvPr/>
        </p:nvSpPr>
        <p:spPr>
          <a:xfrm>
            <a:off x="267287" y="473042"/>
            <a:ext cx="3587262" cy="45702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dirty="0" err="1">
                <a:latin typeface="IBM Plex Sans" panose="020B0503050203000203" pitchFamily="34" charset="0"/>
              </a:rPr>
              <a:t>context_schema.yaml</a:t>
            </a:r>
            <a:r>
              <a:rPr lang="en-IN" sz="1100" dirty="0">
                <a:latin typeface="IBM Plex Sans" panose="020B0503050203000203" pitchFamily="34" charset="0"/>
              </a:rPr>
              <a:t> (812 lines)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System Architecture: Full-stack components definition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Backend API: 11 endpoints with complete specifications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Database Schema: 6 tables with relationships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Data Models: Request/response schemas with validation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ML Models: Random Forest + Gradient Boosting specs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Business Rules: Refund calculation logic</a:t>
            </a:r>
          </a:p>
          <a:p>
            <a:pPr>
              <a:defRPr sz="1300"/>
            </a:pPr>
            <a:endParaRPr lang="en-IN" sz="1100" dirty="0">
              <a:latin typeface="IBM Plex Sans" panose="020B0503050203000203" pitchFamily="34" charset="0"/>
            </a:endParaRPr>
          </a:p>
          <a:p>
            <a:pPr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refund-api-bulk-import-v2.json (465 lines)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11 REST API tool definitions for Context Forge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Complete JSON Schema validation for each tool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Ready for IBM ICA Agent Orchestration</a:t>
            </a:r>
          </a:p>
          <a:p>
            <a:pPr>
              <a:defRPr sz="1300"/>
            </a:pPr>
            <a:endParaRPr lang="en-IN" sz="1100" dirty="0">
              <a:latin typeface="IBM Plex Sans" panose="020B0503050203000203" pitchFamily="34" charset="0"/>
            </a:endParaRPr>
          </a:p>
          <a:p>
            <a:pPr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Knowledge Graph: 80+ nodes, 179+ relationships</a:t>
            </a:r>
          </a:p>
          <a:p>
            <a:pPr lvl="1">
              <a:defRPr sz="1300"/>
            </a:pPr>
            <a:r>
              <a:rPr lang="en-IN" sz="1100" dirty="0">
                <a:latin typeface="IBM Plex Sans" panose="020B0503050203000203" pitchFamily="34" charset="0"/>
              </a:rPr>
              <a:t>Entities: Bookings, Components, Events, Providers, Policies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053F0F6-9689-9A42-42C2-74B929346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243" y="1673566"/>
            <a:ext cx="5103307" cy="24896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 9">
            <a:extLst>
              <a:ext uri="{FF2B5EF4-FFF2-40B4-BE49-F238E27FC236}">
                <a16:creationId xmlns:a16="http://schemas.microsoft.com/office/drawing/2014/main" id="{8262899C-40F4-B394-1357-27AAE8218BFC}"/>
              </a:ext>
            </a:extLst>
          </p:cNvPr>
          <p:cNvSpPr/>
          <p:nvPr/>
        </p:nvSpPr>
        <p:spPr>
          <a:xfrm>
            <a:off x="5784755" y="1247945"/>
            <a:ext cx="1448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Studio- Knowledge Graph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92033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19B69-802F-8393-2172-04636FBE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625D992-3169-AEDB-4488-09DB863C83E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2FDB35-1161-2948-0E22-9198BE333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88" y="554000"/>
            <a:ext cx="7030483" cy="4589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0AA5DAC2-24DA-2FC1-56DF-E9E8820F649C}"/>
              </a:ext>
            </a:extLst>
          </p:cNvPr>
          <p:cNvSpPr/>
          <p:nvPr/>
        </p:nvSpPr>
        <p:spPr>
          <a:xfrm>
            <a:off x="4572000" y="-3216"/>
            <a:ext cx="506437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40164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84284-4EBD-4040-B59F-7C5255304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A3160-337B-BE2F-B783-E66D40A7461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24AAAD-BBE1-12C1-56AD-FD30923040A6}"/>
              </a:ext>
            </a:extLst>
          </p:cNvPr>
          <p:cNvSpPr/>
          <p:nvPr/>
        </p:nvSpPr>
        <p:spPr>
          <a:xfrm>
            <a:off x="4096586" y="62284"/>
            <a:ext cx="1628965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F76143-9CF8-A5CB-D1CD-4B686B76A0B3}"/>
              </a:ext>
            </a:extLst>
          </p:cNvPr>
          <p:cNvSpPr txBox="1">
            <a:spLocks/>
          </p:cNvSpPr>
          <p:nvPr/>
        </p:nvSpPr>
        <p:spPr>
          <a:xfrm>
            <a:off x="4277984" y="1986840"/>
            <a:ext cx="4701423" cy="311237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dirty="0">
                <a:latin typeface="IBM Plex Sans" panose="020B0503050203000203" pitchFamily="34" charset="0"/>
              </a:rPr>
              <a:t>refund-api-bulk-import-v2.json (465 lines)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v2-create-booking: POST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/bookings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v2-get-bookings: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/bookings (with pagination)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v2-get-booking-details: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/bookings/{id}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v2-estimate-refund: POST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/estimate-refund/{id} (ML-powered)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v2-get-refund-estimates: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/estimates/{id}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v2-get-risk-events: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/risk-events (global monitoring)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v2-get-regional-risk: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/risk-events/region/{region}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v2-get-historical-refunds: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/historical-refunds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v2-get-refund-statistics: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/statistics/refund-rates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v2-get-provider-policies: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/providers</a:t>
            </a:r>
          </a:p>
          <a:p>
            <a:pPr lvl="1"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v2-get-provider-policy: GET /</a:t>
            </a:r>
            <a:r>
              <a:rPr lang="en-IN" sz="1000" dirty="0" err="1">
                <a:latin typeface="IBM Plex Sans" panose="020B0503050203000203" pitchFamily="34" charset="0"/>
              </a:rPr>
              <a:t>api</a:t>
            </a:r>
            <a:r>
              <a:rPr lang="en-IN" sz="1000" dirty="0">
                <a:latin typeface="IBM Plex Sans" panose="020B0503050203000203" pitchFamily="34" charset="0"/>
              </a:rPr>
              <a:t>/providers/{name}</a:t>
            </a:r>
          </a:p>
          <a:p>
            <a:pPr>
              <a:defRPr sz="1200"/>
            </a:pPr>
            <a:endParaRPr lang="en-IN" sz="1000" dirty="0">
              <a:latin typeface="IBM Plex Sans" panose="020B0503050203000203" pitchFamily="34" charset="0"/>
            </a:endParaRPr>
          </a:p>
          <a:p>
            <a:pPr>
              <a:defRPr sz="1200"/>
            </a:pPr>
            <a:r>
              <a:rPr lang="en-IN" sz="1000" dirty="0">
                <a:latin typeface="IBM Plex Sans" panose="020B0503050203000203" pitchFamily="34" charset="0"/>
              </a:rPr>
              <a:t>Each tool: Complete JSON Schema, headers, authentication, descriptions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ACABEF-90D8-00FE-97B3-B84086AA97A1}"/>
              </a:ext>
            </a:extLst>
          </p:cNvPr>
          <p:cNvSpPr txBox="1">
            <a:spLocks/>
          </p:cNvSpPr>
          <p:nvPr/>
        </p:nvSpPr>
        <p:spPr>
          <a:xfrm>
            <a:off x="4277984" y="517406"/>
            <a:ext cx="4701424" cy="13395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dirty="0">
                <a:latin typeface="IBM Plex Sans" panose="020B0503050203000203" pitchFamily="34" charset="0"/>
              </a:rPr>
              <a:t>Model Context Protocol (MCP)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JSON-RPC 2.0 protocol for AI agent communication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7 tools exposed to IBM ICA agents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Custom implementation in backend/mcp_endpoint_simple.py</a:t>
            </a:r>
          </a:p>
          <a:p>
            <a:pPr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Public Access:</a:t>
            </a:r>
          </a:p>
          <a:p>
            <a:pPr lvl="1">
              <a:defRPr sz="1400"/>
            </a:pPr>
            <a:r>
              <a:rPr lang="en-IN" sz="1000" dirty="0" err="1">
                <a:latin typeface="IBM Plex Sans" panose="020B0503050203000203" pitchFamily="34" charset="0"/>
              </a:rPr>
              <a:t>ngrok</a:t>
            </a:r>
            <a:r>
              <a:rPr lang="en-IN" sz="1000" dirty="0">
                <a:latin typeface="IBM Plex Sans" panose="020B0503050203000203" pitchFamily="34" charset="0"/>
              </a:rPr>
              <a:t> tunnel: https://famished-vertebrae-basil.ngrok-free.dev/mcp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E578E5-D768-FE63-28F8-AEE53CAD35B0}"/>
              </a:ext>
            </a:extLst>
          </p:cNvPr>
          <p:cNvSpPr txBox="1">
            <a:spLocks/>
          </p:cNvSpPr>
          <p:nvPr/>
        </p:nvSpPr>
        <p:spPr>
          <a:xfrm>
            <a:off x="164593" y="2831218"/>
            <a:ext cx="4005072" cy="2267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latin typeface="IBM Plex Sans" panose="020B0503050203000203" pitchFamily="34" charset="0"/>
              </a:rPr>
              <a:t>Basic Agent Creation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Created </a:t>
            </a:r>
            <a:r>
              <a:rPr lang="en-US" sz="1000" dirty="0" err="1">
                <a:latin typeface="IBM Plex Sans" panose="020B0503050203000203" pitchFamily="34" charset="0"/>
              </a:rPr>
              <a:t>TravelRefundAdvisor</a:t>
            </a:r>
            <a:r>
              <a:rPr lang="en-US" sz="1000" dirty="0">
                <a:latin typeface="IBM Plex Sans" panose="020B0503050203000203" pitchFamily="34" charset="0"/>
              </a:rPr>
              <a:t> in Agent Studio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Conversational interface configured</a:t>
            </a:r>
          </a:p>
          <a:p>
            <a:pPr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Agent Orchestration</a:t>
            </a:r>
          </a:p>
          <a:p>
            <a:pPr lvl="1">
              <a:defRPr sz="1400"/>
            </a:pPr>
            <a:r>
              <a:rPr lang="en-US" sz="1000" dirty="0" err="1">
                <a:latin typeface="IBM Plex Sans" panose="020B0503050203000203" pitchFamily="34" charset="0"/>
              </a:rPr>
              <a:t>LangGraph</a:t>
            </a:r>
            <a:r>
              <a:rPr lang="en-US" sz="1000" dirty="0">
                <a:latin typeface="IBM Plex Sans" panose="020B0503050203000203" pitchFamily="34" charset="0"/>
              </a:rPr>
              <a:t> + </a:t>
            </a:r>
            <a:r>
              <a:rPr lang="en-US" sz="1000" dirty="0" err="1">
                <a:latin typeface="IBM Plex Sans" panose="020B0503050203000203" pitchFamily="34" charset="0"/>
              </a:rPr>
              <a:t>ReAct</a:t>
            </a:r>
            <a:r>
              <a:rPr lang="en-US" sz="1000" dirty="0">
                <a:latin typeface="IBM Plex Sans" panose="020B0503050203000203" pitchFamily="34" charset="0"/>
              </a:rPr>
              <a:t> pattern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gpt-5.2 model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All 7 MCP tools integrated</a:t>
            </a:r>
          </a:p>
          <a:p>
            <a:pPr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Linking to MCP Server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Registered External MCP Server in ICA Tools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Tool discovery successful (7 tools)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End-to-end integration working</a:t>
            </a:r>
          </a:p>
          <a:p>
            <a:pPr lvl="1">
              <a:defRPr sz="1400"/>
            </a:pPr>
            <a:r>
              <a:rPr lang="en-US" sz="1000" dirty="0">
                <a:latin typeface="IBM Plex Sans" panose="020B0503050203000203" pitchFamily="34" charset="0"/>
              </a:rPr>
              <a:t>Agent successfully calling tools and retrieving data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55C5D5B-86B4-42BC-05DD-662B33DFC82D}"/>
              </a:ext>
            </a:extLst>
          </p:cNvPr>
          <p:cNvSpPr txBox="1">
            <a:spLocks/>
          </p:cNvSpPr>
          <p:nvPr/>
        </p:nvSpPr>
        <p:spPr>
          <a:xfrm>
            <a:off x="164592" y="517405"/>
            <a:ext cx="4005072" cy="226799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dirty="0">
                <a:latin typeface="IBM Plex Sans" panose="020B0503050203000203" pitchFamily="34" charset="0"/>
              </a:rPr>
              <a:t>IBM ICA Platform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Agent Orchestration (</a:t>
            </a:r>
            <a:r>
              <a:rPr lang="en-IN" sz="1000" dirty="0" err="1">
                <a:latin typeface="IBM Plex Sans" panose="020B0503050203000203" pitchFamily="34" charset="0"/>
              </a:rPr>
              <a:t>LangGraph</a:t>
            </a:r>
            <a:r>
              <a:rPr lang="en-IN" sz="1000" dirty="0">
                <a:latin typeface="IBM Plex Sans" panose="020B0503050203000203" pitchFamily="34" charset="0"/>
              </a:rPr>
              <a:t> + </a:t>
            </a:r>
            <a:r>
              <a:rPr lang="en-IN" sz="1000" dirty="0" err="1">
                <a:latin typeface="IBM Plex Sans" panose="020B0503050203000203" pitchFamily="34" charset="0"/>
              </a:rPr>
              <a:t>ReAct</a:t>
            </a:r>
            <a:r>
              <a:rPr lang="en-IN" sz="1000" dirty="0">
                <a:latin typeface="IBM Plex Sans" panose="020B0503050203000203" pitchFamily="34" charset="0"/>
              </a:rPr>
              <a:t>)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MCP Server (External) - Tool discovery &amp; calling</a:t>
            </a:r>
          </a:p>
          <a:p>
            <a:pPr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Local Development Environment</a:t>
            </a:r>
          </a:p>
          <a:p>
            <a:pPr lvl="1">
              <a:defRPr sz="1400"/>
            </a:pPr>
            <a:r>
              <a:rPr lang="en-IN" sz="1000" dirty="0" err="1">
                <a:latin typeface="IBM Plex Sans" panose="020B0503050203000203" pitchFamily="34" charset="0"/>
              </a:rPr>
              <a:t>FastAPI</a:t>
            </a:r>
            <a:r>
              <a:rPr lang="en-IN" sz="1000" dirty="0">
                <a:latin typeface="IBM Plex Sans" panose="020B0503050203000203" pitchFamily="34" charset="0"/>
              </a:rPr>
              <a:t> Backend - 11 REST endpoints, MCP endpoint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ML Models - Random Forest + Gradient Boosting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SQLite Database - 6 tables with relationships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React Frontend - 7 pages, interactive charts</a:t>
            </a:r>
          </a:p>
          <a:p>
            <a:pPr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Integration Layer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JSON-RPC 2.0 protocol</a:t>
            </a:r>
          </a:p>
          <a:p>
            <a:pPr lvl="1">
              <a:defRPr sz="1400"/>
            </a:pPr>
            <a:r>
              <a:rPr lang="en-IN" sz="1000" dirty="0" err="1">
                <a:latin typeface="IBM Plex Sans" panose="020B0503050203000203" pitchFamily="34" charset="0"/>
              </a:rPr>
              <a:t>ngrok</a:t>
            </a:r>
            <a:r>
              <a:rPr lang="en-IN" sz="1000" dirty="0">
                <a:latin typeface="IBM Plex Sans" panose="020B0503050203000203" pitchFamily="34" charset="0"/>
              </a:rPr>
              <a:t> tunnel for public access</a:t>
            </a:r>
          </a:p>
          <a:p>
            <a:pPr lvl="1">
              <a:defRPr sz="1400"/>
            </a:pPr>
            <a:r>
              <a:rPr lang="en-IN" sz="1000" dirty="0">
                <a:latin typeface="IBM Plex Sans" panose="020B0503050203000203" pitchFamily="34" charset="0"/>
              </a:rPr>
              <a:t>HTTPS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0342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5E858-5012-BCA7-1630-78AD783B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B54F1A-AACD-575B-0D67-AAAEBFBCD36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A1F3E6-B880-959A-1DD2-A92DC090A31C}"/>
              </a:ext>
            </a:extLst>
          </p:cNvPr>
          <p:cNvSpPr/>
          <p:nvPr/>
        </p:nvSpPr>
        <p:spPr>
          <a:xfrm>
            <a:off x="3877339" y="149903"/>
            <a:ext cx="1389321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Start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B1A7C7-29DF-2E80-1147-B8C934E9AEE1}"/>
              </a:ext>
            </a:extLst>
          </p:cNvPr>
          <p:cNvSpPr txBox="1"/>
          <p:nvPr/>
        </p:nvSpPr>
        <p:spPr>
          <a:xfrm>
            <a:off x="443132" y="956603"/>
            <a:ext cx="8433582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IBM Plex Sans" panose="020B0503050203000203" pitchFamily="34" charset="0"/>
              </a:rPr>
              <a:t>Bob-a-thon: </a:t>
            </a:r>
            <a:r>
              <a:rPr lang="en-IN" sz="1400" dirty="0" err="1">
                <a:highlight>
                  <a:srgbClr val="FF00FF"/>
                </a:highlight>
                <a:latin typeface="IBM Plex Sans" panose="020B0503050203000203" pitchFamily="34" charset="0"/>
              </a:rPr>
              <a:t>Uncertainty_Refund</a:t>
            </a:r>
            <a:r>
              <a:rPr lang="en-IN" sz="1400" dirty="0">
                <a:highlight>
                  <a:srgbClr val="FF00FF"/>
                </a:highlight>
                <a:latin typeface="IBM Plex Sans" panose="020B0503050203000203" pitchFamily="34" charset="0"/>
              </a:rPr>
              <a:t> Start</a:t>
            </a:r>
          </a:p>
          <a:p>
            <a:endParaRPr lang="en-IN" sz="1400" dirty="0">
              <a:latin typeface="IBM Plex Sans" panose="020B0503050203000203" pitchFamily="34" charset="0"/>
            </a:endParaRPr>
          </a:p>
          <a:p>
            <a:r>
              <a:rPr lang="en-IN" sz="1400" dirty="0">
                <a:highlight>
                  <a:srgbClr val="00FF00"/>
                </a:highlight>
                <a:latin typeface="IBM Plex Sans" panose="020B0503050203000203" pitchFamily="34" charset="0"/>
              </a:rPr>
              <a:t>Terminal 1:</a:t>
            </a:r>
          </a:p>
          <a:p>
            <a:pPr lvl="0"/>
            <a:r>
              <a:rPr lang="en-IN" sz="1400" dirty="0">
                <a:latin typeface="IBM Plex Sans" panose="020B0503050203000203" pitchFamily="34" charset="0"/>
              </a:rPr>
              <a:t>PS C:\Users\AbhijitJoshi\Uncertainty_Refund\backend&gt; </a:t>
            </a:r>
            <a:r>
              <a:rPr lang="en-IN" sz="1400" dirty="0">
                <a:highlight>
                  <a:srgbClr val="FF00FF"/>
                </a:highlight>
                <a:latin typeface="IBM Plex Sans" panose="020B0503050203000203" pitchFamily="34" charset="0"/>
              </a:rPr>
              <a:t>python main.py</a:t>
            </a:r>
          </a:p>
          <a:p>
            <a:pPr lvl="0"/>
            <a:endParaRPr lang="en-IN" sz="1400" dirty="0">
              <a:latin typeface="IBM Plex Sans" panose="020B0503050203000203" pitchFamily="34" charset="0"/>
            </a:endParaRPr>
          </a:p>
          <a:p>
            <a:r>
              <a:rPr lang="en-IN" sz="1400" dirty="0">
                <a:highlight>
                  <a:srgbClr val="00FF00"/>
                </a:highlight>
                <a:latin typeface="IBM Plex Sans" panose="020B0503050203000203" pitchFamily="34" charset="0"/>
              </a:rPr>
              <a:t>Terminal 2:</a:t>
            </a:r>
          </a:p>
          <a:p>
            <a:pPr lvl="0"/>
            <a:r>
              <a:rPr lang="en-IN" sz="1400" dirty="0">
                <a:latin typeface="IBM Plex Sans" panose="020B0503050203000203" pitchFamily="34" charset="0"/>
              </a:rPr>
              <a:t>PS C:\Users\AbhijitJoshi\Uncertainty_Refund\backend&gt; </a:t>
            </a:r>
            <a:r>
              <a:rPr lang="en-IN" sz="1400" dirty="0" err="1">
                <a:highlight>
                  <a:srgbClr val="FF00FF"/>
                </a:highlight>
                <a:latin typeface="IBM Plex Sans" panose="020B0503050203000203" pitchFamily="34" charset="0"/>
              </a:rPr>
              <a:t>ngrok</a:t>
            </a:r>
            <a:r>
              <a:rPr lang="en-IN" sz="1400" dirty="0">
                <a:highlight>
                  <a:srgbClr val="FF00FF"/>
                </a:highlight>
                <a:latin typeface="IBM Plex Sans" panose="020B0503050203000203" pitchFamily="34" charset="0"/>
              </a:rPr>
              <a:t> http 8000</a:t>
            </a:r>
          </a:p>
          <a:p>
            <a:pPr lvl="0"/>
            <a:endParaRPr lang="en-IN" sz="1400" dirty="0">
              <a:latin typeface="IBM Plex Sans" panose="020B0503050203000203" pitchFamily="34" charset="0"/>
            </a:endParaRPr>
          </a:p>
          <a:p>
            <a:r>
              <a:rPr lang="en-IN" sz="1400" dirty="0">
                <a:highlight>
                  <a:srgbClr val="00FF00"/>
                </a:highlight>
                <a:latin typeface="IBM Plex Sans" panose="020B0503050203000203" pitchFamily="34" charset="0"/>
              </a:rPr>
              <a:t>Application Web UI:</a:t>
            </a:r>
          </a:p>
          <a:p>
            <a:pPr lvl="0"/>
            <a:r>
              <a:rPr lang="en-IN" sz="1400" dirty="0">
                <a:latin typeface="IBM Plex Sans" panose="020B0503050203000203" pitchFamily="34" charset="0"/>
              </a:rPr>
              <a:t>Frontend: </a:t>
            </a:r>
            <a:r>
              <a:rPr lang="en-IN" sz="1400" u="sng" dirty="0">
                <a:highlight>
                  <a:srgbClr val="FF00FF"/>
                </a:highlight>
                <a:latin typeface="IBM Plex Sans" panose="020B0503050203000203" pitchFamily="34" charset="0"/>
                <a:hlinkClick r:id="rId3"/>
              </a:rPr>
              <a:t>http://localhost:3000</a:t>
            </a:r>
            <a:endParaRPr lang="en-IN" sz="1400" dirty="0">
              <a:highlight>
                <a:srgbClr val="FF00FF"/>
              </a:highlight>
              <a:latin typeface="IBM Plex Sans" panose="020B0503050203000203" pitchFamily="34" charset="0"/>
            </a:endParaRPr>
          </a:p>
          <a:p>
            <a:pPr lvl="0"/>
            <a:r>
              <a:rPr lang="en-IN" sz="1400" dirty="0">
                <a:latin typeface="IBM Plex Sans" panose="020B0503050203000203" pitchFamily="34" charset="0"/>
              </a:rPr>
              <a:t>Backend API: </a:t>
            </a:r>
            <a:r>
              <a:rPr lang="en-IN" sz="1400" u="sng" dirty="0">
                <a:highlight>
                  <a:srgbClr val="FF00FF"/>
                </a:highlight>
                <a:latin typeface="IBM Plex Sans" panose="020B0503050203000203" pitchFamily="34" charset="0"/>
                <a:hlinkClick r:id="rId4"/>
              </a:rPr>
              <a:t>http://localhost:8000</a:t>
            </a:r>
            <a:endParaRPr lang="en-IN" sz="1400" dirty="0">
              <a:highlight>
                <a:srgbClr val="FF00FF"/>
              </a:highlight>
              <a:latin typeface="IBM Plex Sans" panose="020B0503050203000203" pitchFamily="34" charset="0"/>
            </a:endParaRPr>
          </a:p>
          <a:p>
            <a:pPr lvl="0"/>
            <a:r>
              <a:rPr lang="en-IN" sz="1400" dirty="0">
                <a:latin typeface="IBM Plex Sans" panose="020B0503050203000203" pitchFamily="34" charset="0"/>
              </a:rPr>
              <a:t>APIs: </a:t>
            </a:r>
            <a:r>
              <a:rPr lang="en-IN" sz="1400" u="sng" dirty="0">
                <a:highlight>
                  <a:srgbClr val="FF00FF"/>
                </a:highlight>
                <a:latin typeface="IBM Plex Sans" panose="020B0503050203000203" pitchFamily="34" charset="0"/>
                <a:hlinkClick r:id="rId5"/>
              </a:rPr>
              <a:t>http://localhost:8000/api/docs</a:t>
            </a:r>
            <a:endParaRPr lang="en-IN" sz="1400" u="sng" dirty="0">
              <a:highlight>
                <a:srgbClr val="FF00FF"/>
              </a:highlight>
              <a:latin typeface="IBM Plex Sans" panose="020B0503050203000203" pitchFamily="34" charset="0"/>
            </a:endParaRPr>
          </a:p>
          <a:p>
            <a:pPr lvl="0"/>
            <a:endParaRPr lang="en-IN" sz="1400" dirty="0">
              <a:latin typeface="IBM Plex Sans" panose="020B0503050203000203" pitchFamily="34" charset="0"/>
            </a:endParaRPr>
          </a:p>
          <a:p>
            <a:r>
              <a:rPr lang="en-IN" sz="1400" dirty="0">
                <a:highlight>
                  <a:srgbClr val="00FF00"/>
                </a:highlight>
                <a:latin typeface="IBM Plex Sans" panose="020B0503050203000203" pitchFamily="34" charset="0"/>
              </a:rPr>
              <a:t>Tests:</a:t>
            </a:r>
          </a:p>
          <a:p>
            <a:r>
              <a:rPr lang="en-IN" sz="1400" dirty="0">
                <a:latin typeface="IBM Plex Sans" panose="020B0503050203000203" pitchFamily="34" charset="0"/>
              </a:rPr>
              <a:t>Check API health: </a:t>
            </a:r>
            <a:r>
              <a:rPr lang="en-IN" sz="1400" u="sng" dirty="0">
                <a:latin typeface="IBM Plex Sans" panose="020B0503050203000203" pitchFamily="34" charset="0"/>
                <a:hlinkClick r:id="rId6"/>
              </a:rPr>
              <a:t>http://localhost:8000/api/health</a:t>
            </a:r>
            <a:endParaRPr lang="en-IN" sz="1400" dirty="0">
              <a:latin typeface="IBM Plex Sans" panose="020B0503050203000203" pitchFamily="34" charset="0"/>
            </a:endParaRPr>
          </a:p>
          <a:p>
            <a:r>
              <a:rPr lang="en-IN" sz="1400" dirty="0">
                <a:latin typeface="IBM Plex Sans" panose="020B0503050203000203" pitchFamily="34" charset="0"/>
              </a:rPr>
              <a:t>Check service health: </a:t>
            </a:r>
            <a:r>
              <a:rPr lang="en-IN" sz="1400" u="sng" dirty="0">
                <a:latin typeface="IBM Plex Sans" panose="020B0503050203000203" pitchFamily="34" charset="0"/>
                <a:hlinkClick r:id="rId7"/>
              </a:rPr>
              <a:t>https://famished-vertebrae-basil.ngrok-free.dev/api/health</a:t>
            </a:r>
            <a:endParaRPr lang="en-IN" sz="1400" dirty="0">
              <a:latin typeface="IBM Plex Sans" panose="020B0503050203000203" pitchFamily="34" charset="0"/>
            </a:endParaRPr>
          </a:p>
          <a:p>
            <a:r>
              <a:rPr lang="en-IN" sz="1400" dirty="0">
                <a:latin typeface="IBM Plex Sans" panose="020B0503050203000203" pitchFamily="34" charset="0"/>
              </a:rPr>
              <a:t>Check bookings API: </a:t>
            </a:r>
            <a:r>
              <a:rPr lang="en-IN" sz="1400" u="sng" dirty="0">
                <a:latin typeface="IBM Plex Sans" panose="020B0503050203000203" pitchFamily="34" charset="0"/>
                <a:hlinkClick r:id="rId8"/>
              </a:rPr>
              <a:t>https://famished-vertebrae-basil.ngrok-free.dev/api/bookings</a:t>
            </a:r>
            <a:endParaRPr lang="en-IN" sz="1400" dirty="0">
              <a:latin typeface="IBM Plex Sans" panose="020B0503050203000203" pitchFamily="34" charset="0"/>
            </a:endParaRPr>
          </a:p>
          <a:p>
            <a:endParaRPr lang="en-IN" sz="1400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74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05F7B-EFA5-A6E6-2D9D-C906C64B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B6B190-D8B3-8F5F-C33B-86C07C8977F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BE79B6-59AE-398A-D7A3-C33340094EE0}"/>
              </a:ext>
            </a:extLst>
          </p:cNvPr>
          <p:cNvSpPr/>
          <p:nvPr/>
        </p:nvSpPr>
        <p:spPr>
          <a:xfrm>
            <a:off x="3877339" y="149903"/>
            <a:ext cx="1389321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Test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80A57-774A-2003-1F9D-6CEFF23CAF1C}"/>
              </a:ext>
            </a:extLst>
          </p:cNvPr>
          <p:cNvSpPr txBox="1"/>
          <p:nvPr/>
        </p:nvSpPr>
        <p:spPr>
          <a:xfrm>
            <a:off x="443132" y="531321"/>
            <a:ext cx="8433582" cy="45704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highlight>
                  <a:srgbClr val="00FF00"/>
                </a:highlight>
                <a:latin typeface="IBM Plex Sans" panose="020B0503050203000203" pitchFamily="34" charset="0"/>
              </a:rPr>
              <a:t>Agent URL: </a:t>
            </a:r>
          </a:p>
          <a:p>
            <a:r>
              <a:rPr lang="en-IN" sz="1400" u="sng" dirty="0">
                <a:highlight>
                  <a:srgbClr val="FF00FF"/>
                </a:highlight>
                <a:latin typeface="IBM Plex Sans" panose="020B0503050203000203" pitchFamily="34" charset="0"/>
                <a:hlinkClick r:id="rId3"/>
              </a:rPr>
              <a:t>https://servicesessentials.ibm.com/curatorai/apps/ui/newchat/6a1130cc7f44ef312d06b0c9</a:t>
            </a:r>
            <a:endParaRPr lang="en-IN" sz="1400" u="sng" dirty="0">
              <a:highlight>
                <a:srgbClr val="FF00FF"/>
              </a:highlight>
              <a:latin typeface="IBM Plex Sans" panose="020B0503050203000203" pitchFamily="34" charset="0"/>
            </a:endParaRPr>
          </a:p>
          <a:p>
            <a:endParaRPr lang="en-IN" sz="1400" dirty="0">
              <a:latin typeface="IBM Plex Sans" panose="020B0503050203000203" pitchFamily="34" charset="0"/>
            </a:endParaRPr>
          </a:p>
          <a:p>
            <a:r>
              <a:rPr lang="en-IN" sz="1400" dirty="0">
                <a:highlight>
                  <a:srgbClr val="00FF00"/>
                </a:highlight>
                <a:latin typeface="IBM Plex Sans" panose="020B0503050203000203" pitchFamily="34" charset="0"/>
              </a:rPr>
              <a:t>Agent Test Prompts: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What are the current global risk events affecting travel?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Show me all my travel bookings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I need to cancel booking 41 due to a natural disaster. Can you estimate my refund with high severity?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I'm planning to travel to Ukraine. What's the current risk level there?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Show me historical refund statistics for flight cancellations during pandemics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What are the refund policies for different travel providers?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For bookings (Mumbai to Barcelona), if I cancel due to political unrest with medium severity, what would be my expected refund for each component?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Can you explain what the 95% confidence interval means in my refund estimate?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Compare refund rates for Air India vs Lufthansa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What factors affect refund amounts the most?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>
                <a:latin typeface="IBM Plex Sans" panose="020B0503050203000203" pitchFamily="34" charset="0"/>
              </a:rPr>
              <a:t>Show me bookings to high-risk destinations</a:t>
            </a:r>
          </a:p>
          <a:p>
            <a:endParaRPr lang="en-IN" sz="1400" dirty="0">
              <a:latin typeface="IBM Plex Sans" panose="020B0503050203000203" pitchFamily="34" charset="0"/>
            </a:endParaRPr>
          </a:p>
          <a:p>
            <a:r>
              <a:rPr lang="en-IN" sz="1400" dirty="0" err="1">
                <a:highlight>
                  <a:srgbClr val="00FF00"/>
                </a:highlight>
                <a:latin typeface="IBM Plex Sans" panose="020B0503050203000203" pitchFamily="34" charset="0"/>
              </a:rPr>
              <a:t>Github</a:t>
            </a:r>
            <a:endParaRPr lang="en-IN" sz="1400" dirty="0">
              <a:highlight>
                <a:srgbClr val="00FF00"/>
              </a:highlight>
              <a:latin typeface="IBM Plex Sans" panose="020B0503050203000203" pitchFamily="34" charset="0"/>
            </a:endParaRPr>
          </a:p>
          <a:p>
            <a:r>
              <a:rPr lang="en-IN" sz="1400" dirty="0">
                <a:highlight>
                  <a:srgbClr val="FF00FF"/>
                </a:highlight>
                <a:latin typeface="IBM Plex Sans" panose="020B0503050203000203" pitchFamily="34" charset="0"/>
              </a:rPr>
              <a:t>https://github.com/abhijitjoshi140377/Uncertainty_Refund</a:t>
            </a:r>
          </a:p>
          <a:p>
            <a:endParaRPr lang="en-IN" sz="1100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28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C8E12-9BC3-3F72-6215-5C52887B8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9021B83-C1F6-1514-E995-C024BC6A782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CEA906-4500-E40C-69F3-E31AA647C009}"/>
              </a:ext>
            </a:extLst>
          </p:cNvPr>
          <p:cNvSpPr/>
          <p:nvPr/>
        </p:nvSpPr>
        <p:spPr>
          <a:xfrm>
            <a:off x="3877339" y="-61850"/>
            <a:ext cx="1763806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Prompts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88E095-9798-B5F5-183D-B8B13F5F5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33" y="494576"/>
            <a:ext cx="4112327" cy="23370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9F6DB1-F4A9-907B-ADE7-16C1B653E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242" y="494576"/>
            <a:ext cx="3438154" cy="27828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9FD1D82-5CBE-0562-5436-FE0235813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33" y="2973365"/>
            <a:ext cx="4112327" cy="1954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9F1600-DFF9-DCA9-943D-E037608102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0052"/>
          <a:stretch>
            <a:fillRect/>
          </a:stretch>
        </p:blipFill>
        <p:spPr>
          <a:xfrm>
            <a:off x="4759242" y="3449497"/>
            <a:ext cx="4288212" cy="14780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F55055D0-4807-F537-9196-F866D1911723}"/>
              </a:ext>
            </a:extLst>
          </p:cNvPr>
          <p:cNvSpPr/>
          <p:nvPr/>
        </p:nvSpPr>
        <p:spPr>
          <a:xfrm>
            <a:off x="135823" y="352846"/>
            <a:ext cx="236220" cy="21568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23AE9D-D2B1-69CC-38CC-34BD26D82125}"/>
              </a:ext>
            </a:extLst>
          </p:cNvPr>
          <p:cNvSpPr/>
          <p:nvPr/>
        </p:nvSpPr>
        <p:spPr>
          <a:xfrm>
            <a:off x="4659632" y="397403"/>
            <a:ext cx="236220" cy="21568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71982A-BD14-CC5F-9591-4975D0944B38}"/>
              </a:ext>
            </a:extLst>
          </p:cNvPr>
          <p:cNvSpPr/>
          <p:nvPr/>
        </p:nvSpPr>
        <p:spPr>
          <a:xfrm>
            <a:off x="150208" y="2865522"/>
            <a:ext cx="236220" cy="21568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49A61F7-2EAD-D6BA-D4F0-9F7FB7CE81C0}"/>
              </a:ext>
            </a:extLst>
          </p:cNvPr>
          <p:cNvSpPr/>
          <p:nvPr/>
        </p:nvSpPr>
        <p:spPr>
          <a:xfrm>
            <a:off x="4641132" y="3341654"/>
            <a:ext cx="236220" cy="21568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5141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81F078-05CD-0F72-D91C-99CC7F3A1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972F05-8045-85AD-E632-1434C254D205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F56BE0-D331-263D-EC71-EFE07B97D2EE}"/>
              </a:ext>
            </a:extLst>
          </p:cNvPr>
          <p:cNvSpPr/>
          <p:nvPr/>
        </p:nvSpPr>
        <p:spPr>
          <a:xfrm>
            <a:off x="3653947" y="0"/>
            <a:ext cx="1836105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Agent  Test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873F8C-CB06-CD1E-0656-29D14C47B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42" y="515299"/>
            <a:ext cx="3914489" cy="448752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83224D-9F05-BED9-5368-791B3A8A81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02"/>
          <a:stretch>
            <a:fillRect/>
          </a:stretch>
        </p:blipFill>
        <p:spPr>
          <a:xfrm>
            <a:off x="4375053" y="515299"/>
            <a:ext cx="4616002" cy="438018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4889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79B079-16F8-DF23-7254-F16B5A3E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F9F681-C038-BEC6-3AEA-4FF0AFC814EA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F21876-A40E-3D82-1BFC-A3354AF08703}"/>
              </a:ext>
            </a:extLst>
          </p:cNvPr>
          <p:cNvSpPr/>
          <p:nvPr/>
        </p:nvSpPr>
        <p:spPr>
          <a:xfrm>
            <a:off x="3444511" y="366061"/>
            <a:ext cx="1804811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0E8B90-2E7D-75F8-CDE7-1ECC53E229FA}"/>
              </a:ext>
            </a:extLst>
          </p:cNvPr>
          <p:cNvSpPr txBox="1">
            <a:spLocks/>
          </p:cNvSpPr>
          <p:nvPr/>
        </p:nvSpPr>
        <p:spPr>
          <a:xfrm>
            <a:off x="2304171" y="883921"/>
            <a:ext cx="4249029" cy="318515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50" dirty="0">
                <a:latin typeface="IBM Plex Sans" panose="020B0503050203000203" pitchFamily="34" charset="0"/>
              </a:rPr>
              <a:t>Quantitative Results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11 API endpoints - All functional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7 MCP tools - Successfully integrated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95% confidence intervals - Uncertainty quantification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53 sample bookings - Realistic synthetic test data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500+ historical records - ML training data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100% success rate - All demo prompts working</a:t>
            </a:r>
          </a:p>
          <a:p>
            <a:pPr>
              <a:defRPr sz="1300"/>
            </a:pPr>
            <a:endParaRPr lang="en-IN" sz="1050" dirty="0">
              <a:latin typeface="IBM Plex Sans" panose="020B0503050203000203" pitchFamily="34" charset="0"/>
            </a:endParaRPr>
          </a:p>
          <a:p>
            <a:pPr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Qualitative Impact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Customer Experience: Instant, transparent estimates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Business Efficiency: Automated vs manual process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Risk Management: Real-time global monitoring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AI Transparency: Explainable predictions</a:t>
            </a:r>
          </a:p>
          <a:p>
            <a:pPr lvl="1">
              <a:defRPr sz="1300"/>
            </a:pPr>
            <a:r>
              <a:rPr lang="en-IN" sz="1050" dirty="0">
                <a:latin typeface="IBM Plex Sans" panose="020B0503050203000203" pitchFamily="34" charset="0"/>
              </a:rPr>
              <a:t>Enterprise Ready: IBM ICA integration</a:t>
            </a:r>
          </a:p>
        </p:txBody>
      </p:sp>
    </p:spTree>
    <p:extLst>
      <p:ext uri="{BB962C8B-B14F-4D97-AF65-F5344CB8AC3E}">
        <p14:creationId xmlns:p14="http://schemas.microsoft.com/office/powerpoint/2010/main" val="4070624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47548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 refund decisions — model-backed, not manual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47548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Scenario analysis across 4 estimation models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52928"/>
            <a:ext cx="47548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285292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Historical analytics for explainability &amp; audit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557016"/>
            <a:ext cx="47548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557016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Real-time operational awareness via notifications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4924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BA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49240" y="1444752"/>
            <a:ext cx="3566160" cy="566928"/>
          </a:xfrm>
          <a:prstGeom prst="rect">
            <a:avLst/>
          </a:prstGeom>
          <a:solidFill>
            <a:srgbClr val="FFF4D6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0" y="14447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Persistent notifications &amp; role-based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2148840"/>
            <a:ext cx="3566160" cy="566928"/>
          </a:xfrm>
          <a:prstGeom prst="rect">
            <a:avLst/>
          </a:prstGeom>
          <a:solidFill>
            <a:srgbClr val="FFF4D6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0" y="2148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external risk feed 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2852928"/>
            <a:ext cx="3566160" cy="566928"/>
          </a:xfrm>
          <a:prstGeom prst="rect">
            <a:avLst/>
          </a:prstGeom>
          <a:solidFill>
            <a:srgbClr val="FFF4D6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86400" y="28529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Provider-specific refund policy intelligence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49240" y="3557016"/>
            <a:ext cx="3566160" cy="566928"/>
          </a:xfrm>
          <a:prstGeom prst="rect">
            <a:avLst/>
          </a:prstGeom>
          <a:solidFill>
            <a:srgbClr val="FFF4D6"/>
          </a:solidFill>
          <a:ln/>
          <a:effectLst>
            <a:outerShdw blurRad="63500" dist="25400" dir="8100000" algn="bl" rotWithShape="0">
              <a:srgbClr val="B0A8CC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0" y="35570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 benchmarking &amp; exportable reports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663440"/>
            <a:ext cx="8503920" cy="347472"/>
          </a:xfrm>
          <a:prstGeom prst="rect">
            <a:avLst/>
          </a:prstGeom>
          <a:solidFill>
            <a:srgbClr val="7C5C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1148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Intelligence Platform  ·  AI-assisted decision support under uncertainty  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122AF-FEF9-2C97-3AA9-28466C9B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733000-DA24-4221-94CC-F1902FBA17FC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BA3C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C024DD1-56DD-AEE8-BD0E-CA753E1EBC3E}"/>
              </a:ext>
            </a:extLst>
          </p:cNvPr>
          <p:cNvSpPr txBox="1">
            <a:spLocks/>
          </p:cNvSpPr>
          <p:nvPr/>
        </p:nvSpPr>
        <p:spPr>
          <a:xfrm>
            <a:off x="830580" y="834097"/>
            <a:ext cx="7856220" cy="380648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IBM Plex Sans" panose="020B0503050203000203" pitchFamily="34" charset="0"/>
              </a:rPr>
              <a:t>Complete System Built in 48 Hours</a:t>
            </a:r>
          </a:p>
          <a:p>
            <a:pPr>
              <a:defRPr sz="1600" b="0"/>
            </a:pPr>
            <a:endParaRPr lang="en-US" sz="1200" dirty="0">
              <a:latin typeface="IBM Plex Sans" panose="020B0503050203000203" pitchFamily="34" charset="0"/>
            </a:endParaRPr>
          </a:p>
          <a:p>
            <a:pPr>
              <a:defRPr sz="1600" b="1"/>
            </a:pPr>
            <a:r>
              <a:rPr lang="en-US" sz="1200" b="1" dirty="0">
                <a:latin typeface="IBM Plex Sans" panose="020B0503050203000203" pitchFamily="34" charset="0"/>
              </a:rPr>
              <a:t>Technical Excellence: Full-stack with ML and enterprise integration</a:t>
            </a:r>
          </a:p>
          <a:p>
            <a:pPr>
              <a:defRPr sz="1600" b="1"/>
            </a:pPr>
            <a:r>
              <a:rPr lang="en-US" sz="1200" b="1" dirty="0">
                <a:latin typeface="IBM Plex Sans" panose="020B0503050203000203" pitchFamily="34" charset="0"/>
              </a:rPr>
              <a:t>Innovation: Uncertainty quantification and AI transparency</a:t>
            </a:r>
          </a:p>
          <a:p>
            <a:pPr>
              <a:defRPr sz="1600" b="1"/>
            </a:pPr>
            <a:r>
              <a:rPr lang="en-US" sz="1200" b="1" dirty="0">
                <a:latin typeface="IBM Plex Sans" panose="020B0503050203000203" pitchFamily="34" charset="0"/>
              </a:rPr>
              <a:t>Business Value: Solves real travel industry problem</a:t>
            </a:r>
          </a:p>
          <a:p>
            <a:pPr>
              <a:defRPr sz="1600" b="1"/>
            </a:pPr>
            <a:r>
              <a:rPr lang="en-US" sz="1200" b="1" dirty="0">
                <a:latin typeface="IBM Plex Sans" panose="020B0503050203000203" pitchFamily="34" charset="0"/>
              </a:rPr>
              <a:t>Production Quality: Professional code, docs, testing</a:t>
            </a:r>
          </a:p>
          <a:p>
            <a:pPr>
              <a:defRPr sz="1600" b="0"/>
            </a:pPr>
            <a:endParaRPr lang="en-US" sz="1200" dirty="0">
              <a:latin typeface="IBM Plex Sans" panose="020B0503050203000203" pitchFamily="34" charset="0"/>
            </a:endParaRPr>
          </a:p>
          <a:p>
            <a:pPr marL="0" indent="0">
              <a:buNone/>
              <a:defRPr sz="1600" b="0"/>
            </a:pPr>
            <a:r>
              <a:rPr lang="en-US" sz="1200" dirty="0">
                <a:latin typeface="IBM Plex Sans" panose="020B0503050203000203" pitchFamily="34" charset="0"/>
              </a:rPr>
              <a:t>Integration with IBM ICA through MCP protocol showcases how modern AI agents can connect to specialized business applications, creating powerful, transparent, user-friendly solutions.</a:t>
            </a:r>
          </a:p>
          <a:p>
            <a:pPr>
              <a:defRPr sz="1600" b="0"/>
            </a:pPr>
            <a:endParaRPr lang="en-US" sz="1200" dirty="0">
              <a:latin typeface="IBM Plex Sans" panose="020B0503050203000203" pitchFamily="34" charset="0"/>
            </a:endParaRPr>
          </a:p>
          <a:p>
            <a:pPr marL="0" indent="0">
              <a:buNone/>
              <a:defRPr sz="1600" b="0"/>
            </a:pPr>
            <a:r>
              <a:rPr lang="en-US" sz="1200" dirty="0">
                <a:latin typeface="IBM Plex Sans" panose="020B0503050203000203" pitchFamily="34" charset="0"/>
              </a:rPr>
              <a:t>This project represents the future of AI-powered business applications that are intelligent, explainable, and seamlessly integrated.</a:t>
            </a:r>
          </a:p>
          <a:p>
            <a:pPr marL="0" indent="0">
              <a:buNone/>
              <a:defRPr sz="1600" b="0"/>
            </a:pPr>
            <a:endParaRPr lang="en-US" sz="1200" dirty="0">
              <a:latin typeface="IBM Plex Sans" panose="020B0503050203000203" pitchFamily="34" charset="0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FC85F9C-043C-D794-68BE-DAE8FD0BB703}"/>
              </a:ext>
            </a:extLst>
          </p:cNvPr>
          <p:cNvSpPr/>
          <p:nvPr/>
        </p:nvSpPr>
        <p:spPr>
          <a:xfrm>
            <a:off x="3730285" y="419401"/>
            <a:ext cx="1804811" cy="41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6215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4161</TotalTime>
  <Words>1347</Words>
  <Application>Microsoft Office PowerPoint</Application>
  <PresentationFormat>On-screen Show (16:9)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Refund Intelligence Platform</dc:title>
  <dc:subject>PptxGenJS Presentation</dc:subject>
  <dc:creator>PptxGenJS</dc:creator>
  <cp:lastModifiedBy>Abhijit Joshi</cp:lastModifiedBy>
  <cp:revision>20</cp:revision>
  <dcterms:created xsi:type="dcterms:W3CDTF">2026-05-19T06:07:40Z</dcterms:created>
  <dcterms:modified xsi:type="dcterms:W3CDTF">2026-05-27T11:39:09Z</dcterms:modified>
</cp:coreProperties>
</file>