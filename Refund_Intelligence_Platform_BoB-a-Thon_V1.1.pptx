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Travel Refund Uncertainty Estimation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AI-Powered Refund Estimation with IBM ICA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Bob ICA Catalysts Hackathon May 2026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Team: Abhijit Joshi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Version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Hackathon Journey: 8 Steps to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Project Ideation with Bob AI Assistant</a:t>
            </a:r>
          </a:p>
          <a:p>
            <a:pPr>
              <a:defRPr sz="1800"/>
            </a:pPr>
            <a:r>
              <a:t>2. Building Complete Full-Stack Application</a:t>
            </a:r>
          </a:p>
          <a:p>
            <a:pPr>
              <a:defRPr sz="1800"/>
            </a:pPr>
            <a:r>
              <a:t>3. Creating Context Graph with Detailed Schema (812 lines)</a:t>
            </a:r>
          </a:p>
          <a:p>
            <a:pPr>
              <a:defRPr sz="1800"/>
            </a:pPr>
            <a:r>
              <a:t>4. Implementing MCP Server with JSON-RPC 2.0</a:t>
            </a:r>
          </a:p>
          <a:p>
            <a:pPr>
              <a:defRPr sz="1800"/>
            </a:pPr>
            <a:r>
              <a:t>5. Creating Basic Agent in ICA</a:t>
            </a:r>
          </a:p>
          <a:p>
            <a:pPr>
              <a:defRPr sz="1800"/>
            </a:pPr>
            <a:r>
              <a:t>6. Building Agent Orchestration with LangGraph</a:t>
            </a:r>
          </a:p>
          <a:p>
            <a:pPr>
              <a:defRPr sz="1800"/>
            </a:pPr>
            <a:r>
              <a:t>7. Linking Agent to MCP Server</a:t>
            </a:r>
          </a:p>
          <a:p>
            <a:pPr>
              <a:defRPr sz="1800"/>
            </a:pPr>
            <a:r>
              <a:t>8. Demo Preparation and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Project Ideation with Bob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</a:t>
            </a:r>
          </a:p>
          <a:p>
            <a:pPr lvl="1">
              <a:defRPr sz="1600"/>
            </a:pPr>
            <a:r>
              <a:t>Travel companies struggle with refund estimation during force majeure</a:t>
            </a:r>
          </a:p>
          <a:p>
            <a:pPr lvl="1">
              <a:defRPr sz="1600"/>
            </a:pPr>
            <a:r>
              <a:t>Manual process is inconsistent and time-consuming</a:t>
            </a:r>
          </a:p>
          <a:p>
            <a:pPr lvl="1">
              <a:defRPr sz="1600"/>
            </a:pPr>
            <a:r>
              <a:t>Customers need transparent, data-driven estimates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Solution: AI-Powered System</a:t>
            </a:r>
          </a:p>
          <a:p>
            <a:pPr lvl="1">
              <a:defRPr sz="1600"/>
            </a:pPr>
            <a:r>
              <a:t>ML predictions with 95% confidence intervals</a:t>
            </a:r>
          </a:p>
          <a:p>
            <a:pPr lvl="1">
              <a:defRPr sz="1600"/>
            </a:pPr>
            <a:r>
              <a:t>Real-time risk assessment</a:t>
            </a:r>
          </a:p>
          <a:p>
            <a:pPr lvl="1">
              <a:defRPr sz="1600"/>
            </a:pPr>
            <a:r>
              <a:t>Multi-component booking support</a:t>
            </a:r>
          </a:p>
          <a:p>
            <a:pPr lvl="1">
              <a:defRPr sz="1600"/>
            </a:pPr>
            <a:r>
              <a:t>IBM ICA integration for enterprise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 React 18 + Vite</a:t>
            </a:r>
          </a:p>
          <a:p>
            <a:pPr lvl="1">
              <a:defRPr sz="1400"/>
            </a:pPr>
            <a:r>
              <a:t>7 pages: Dashboard, Bookings, Analytics, Risk Monitor</a:t>
            </a:r>
          </a:p>
          <a:p>
            <a:pPr lvl="1">
              <a:defRPr sz="1400"/>
            </a:pPr>
            <a:r>
              <a:t>Interactive charts with Recharts</a:t>
            </a:r>
          </a:p>
          <a:p>
            <a:pPr lvl="1">
              <a:defRPr sz="1400"/>
            </a:pPr>
            <a:r>
              <a:t>Responsive design with SCSS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Backend: FastAPI + Python</a:t>
            </a:r>
          </a:p>
          <a:p>
            <a:pPr lvl="1">
              <a:defRPr sz="1400"/>
            </a:pPr>
            <a:r>
              <a:t>11 REST API endpoints</a:t>
            </a:r>
          </a:p>
          <a:p>
            <a:pPr lvl="1">
              <a:defRPr sz="1400"/>
            </a:pPr>
            <a:r>
              <a:t>SQLite database with SQLAlchemy ORM</a:t>
            </a:r>
          </a:p>
          <a:p>
            <a:pPr lvl="1">
              <a:defRPr sz="1400"/>
            </a:pPr>
            <a:r>
              <a:t>500+ synthetic records for testing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ML Models: scikit-learn</a:t>
            </a:r>
          </a:p>
          <a:p>
            <a:pPr lvl="1">
              <a:defRPr sz="1400"/>
            </a:pPr>
            <a:r>
              <a:t>Random Forest + Gradient Boosting ensemble</a:t>
            </a:r>
          </a:p>
          <a:p>
            <a:pPr lvl="1">
              <a:defRPr sz="1400"/>
            </a:pPr>
            <a:r>
              <a:t>95% confidence interval calculation</a:t>
            </a:r>
          </a:p>
          <a:p>
            <a:pPr lvl="1">
              <a:defRPr sz="1400"/>
            </a:pPr>
            <a:r>
              <a:t>Uncertainty quantification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Context Studio - Detailed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context_schema.yaml (812 lines)</a:t>
            </a:r>
          </a:p>
          <a:p>
            <a:pPr lvl="1">
              <a:defRPr sz="1300"/>
            </a:pPr>
            <a:r>
              <a:t>System Architecture: Full-stack components definition</a:t>
            </a:r>
          </a:p>
          <a:p>
            <a:pPr lvl="1">
              <a:defRPr sz="1300"/>
            </a:pPr>
            <a:r>
              <a:t>Backend API: 11 endpoints with complete specifications</a:t>
            </a:r>
          </a:p>
          <a:p>
            <a:pPr lvl="1">
              <a:defRPr sz="1300"/>
            </a:pPr>
            <a:r>
              <a:t>Database Schema: 6 tables with relationships</a:t>
            </a:r>
          </a:p>
          <a:p>
            <a:pPr lvl="1">
              <a:defRPr sz="1300"/>
            </a:pPr>
            <a:r>
              <a:t>Data Models: Request/response schemas with validation</a:t>
            </a:r>
          </a:p>
          <a:p>
            <a:pPr lvl="1">
              <a:defRPr sz="1300"/>
            </a:pPr>
            <a:r>
              <a:t>ML Models: Random Forest + Gradient Boosting specs</a:t>
            </a:r>
          </a:p>
          <a:p>
            <a:pPr lvl="1">
              <a:defRPr sz="1300"/>
            </a:pPr>
            <a:r>
              <a:t>Business Rules: Refund calculation logic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refund-api-bulk-import-v2.json (465 lines)</a:t>
            </a:r>
          </a:p>
          <a:p>
            <a:pPr lvl="1">
              <a:defRPr sz="1300"/>
            </a:pPr>
            <a:r>
              <a:t>11 REST API tool definitions for Context Forge</a:t>
            </a:r>
          </a:p>
          <a:p>
            <a:pPr lvl="1">
              <a:defRPr sz="1300"/>
            </a:pPr>
            <a:r>
              <a:t>Complete JSON Schema validation for each tool</a:t>
            </a:r>
          </a:p>
          <a:p>
            <a:pPr lvl="1">
              <a:defRPr sz="1300"/>
            </a:pPr>
            <a:r>
              <a:t>Ready for IBM ICA Agent Orchestration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Knowledge Graph: 80+ nodes, 179+ relationships</a:t>
            </a:r>
          </a:p>
          <a:p>
            <a:pPr lvl="1">
              <a:defRPr sz="1300"/>
            </a:pPr>
            <a:r>
              <a:t>Entities: Bookings, Components, Events, Providers, Policies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Schema: 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Documentation (812 lines)</a:t>
            </a:r>
          </a:p>
          <a:p>
            <a:pPr lvl="1">
              <a:defRPr sz="1200"/>
            </a:pPr>
            <a:r>
              <a:t>Lines 10-18: Architecture (backend, frontend, mcp_server, database, ml_models)</a:t>
            </a:r>
          </a:p>
          <a:p>
            <a:pPr lvl="1">
              <a:defRPr sz="1200"/>
            </a:pPr>
            <a:r>
              <a:t>Lines 21-231: Backend API (11 endpoints, 6 database tables)</a:t>
            </a:r>
          </a:p>
          <a:p>
            <a:pPr lvl="1">
              <a:defRPr sz="1200"/>
            </a:pPr>
            <a:r>
              <a:t>Lines 234-482: Data Models (BookingCreate, RefundEstimateRequest, etc.)</a:t>
            </a:r>
          </a:p>
          <a:p>
            <a:pPr lvl="1">
              <a:defRPr sz="1200"/>
            </a:pPr>
            <a:r>
              <a:t>Lines 523-573: ML Models (Random Forest, Gradient Boosting, Ensemble)</a:t>
            </a:r>
          </a:p>
          <a:p>
            <a:pPr lvl="1">
              <a:defRPr sz="1200"/>
            </a:pPr>
            <a:r>
              <a:t>Lines 576-610: Frontend (React pages, routing, API client)</a:t>
            </a:r>
          </a:p>
          <a:p>
            <a:pPr lvl="1">
              <a:defRPr sz="1200"/>
            </a:pPr>
            <a:r>
              <a:t>Lines 613-666: MCP Server (11 tools with parameter schemas)</a:t>
            </a:r>
          </a:p>
          <a:p>
            <a:pPr lvl="1">
              <a:defRPr sz="1200"/>
            </a:pPr>
            <a:r>
              <a:t>Lines 669-703: Business Rules (refund calculation, risk assessment)</a:t>
            </a:r>
          </a:p>
          <a:p>
            <a:pPr lvl="1">
              <a:defRPr sz="1200"/>
            </a:pPr>
            <a:r>
              <a:t>Lines 706-790: Deployment, Security, Performance specifications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Complete context for AI agents to understand:</a:t>
            </a:r>
          </a:p>
          <a:p>
            <a:pPr lvl="1">
              <a:defRPr sz="1200"/>
            </a:pPr>
            <a:r>
              <a:t>API structure, data models, ML capabilities, business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Bulk Import: 11 API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refund-api-bulk-import-v2.json (465 lines)</a:t>
            </a:r>
          </a:p>
          <a:p>
            <a:pPr lvl="1">
              <a:defRPr sz="1200"/>
            </a:pPr>
            <a:r>
              <a:t>v2-create-booking: POST /api/bookings</a:t>
            </a:r>
          </a:p>
          <a:p>
            <a:pPr lvl="1">
              <a:defRPr sz="1200"/>
            </a:pPr>
            <a:r>
              <a:t>v2-get-bookings: GET /api/bookings (with pagination)</a:t>
            </a:r>
          </a:p>
          <a:p>
            <a:pPr lvl="1">
              <a:defRPr sz="1200"/>
            </a:pPr>
            <a:r>
              <a:t>v2-get-booking-details: GET /api/bookings/{id}</a:t>
            </a:r>
          </a:p>
          <a:p>
            <a:pPr lvl="1">
              <a:defRPr sz="1200"/>
            </a:pPr>
            <a:r>
              <a:t>v2-estimate-refund: POST /api/estimate-refund/{id} (ML-powered)</a:t>
            </a:r>
          </a:p>
          <a:p>
            <a:pPr lvl="1">
              <a:defRPr sz="1200"/>
            </a:pPr>
            <a:r>
              <a:t>v2-get-refund-estimates: GET /api/estimates/{id}</a:t>
            </a:r>
          </a:p>
          <a:p>
            <a:pPr lvl="1">
              <a:defRPr sz="1200"/>
            </a:pPr>
            <a:r>
              <a:t>v2-get-risk-events: GET /api/risk-events (global monitoring)</a:t>
            </a:r>
          </a:p>
          <a:p>
            <a:pPr lvl="1">
              <a:defRPr sz="1200"/>
            </a:pPr>
            <a:r>
              <a:t>v2-get-regional-risk: GET /api/risk-events/region/{region}</a:t>
            </a:r>
          </a:p>
          <a:p>
            <a:pPr lvl="1">
              <a:defRPr sz="1200"/>
            </a:pPr>
            <a:r>
              <a:t>v2-get-historical-refunds: GET /api/historical-refunds</a:t>
            </a:r>
          </a:p>
          <a:p>
            <a:pPr lvl="1">
              <a:defRPr sz="1200"/>
            </a:pPr>
            <a:r>
              <a:t>v2-get-refund-statistics: GET /api/statistics/refund-rates</a:t>
            </a:r>
          </a:p>
          <a:p>
            <a:pPr lvl="1">
              <a:defRPr sz="1200"/>
            </a:pPr>
            <a:r>
              <a:t>v2-get-provider-policies: GET /api/providers</a:t>
            </a:r>
          </a:p>
          <a:p>
            <a:pPr lvl="1">
              <a:defRPr sz="1200"/>
            </a:pPr>
            <a:r>
              <a:t>v2-get-provider-policy: GET /api/providers/{name}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Each tool: Complete JSON Schema, headers, authentication, descriptions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MCP Server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Context Protocol (MCP)</a:t>
            </a:r>
          </a:p>
          <a:p>
            <a:pPr lvl="1">
              <a:defRPr sz="1400"/>
            </a:pPr>
            <a:r>
              <a:t>JSON-RPC 2.0 protocol for AI agent communication</a:t>
            </a:r>
          </a:p>
          <a:p>
            <a:pPr lvl="1">
              <a:defRPr sz="1400"/>
            </a:pPr>
            <a:r>
              <a:t>7 tools exposed to IBM ICA agents</a:t>
            </a:r>
          </a:p>
          <a:p>
            <a:pPr lvl="1">
              <a:defRPr sz="1400"/>
            </a:pPr>
            <a:r>
              <a:t>Custom implementation in backend/mcp_endpoint_simple.py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MCP Methods Implemented:</a:t>
            </a:r>
          </a:p>
          <a:p>
            <a:pPr lvl="1">
              <a:defRPr sz="1400"/>
            </a:pPr>
            <a:r>
              <a:t>initialize: Handshake with client</a:t>
            </a:r>
          </a:p>
          <a:p>
            <a:pPr lvl="1">
              <a:defRPr sz="1400"/>
            </a:pPr>
            <a:r>
              <a:t>tools/list: Return available tools</a:t>
            </a:r>
          </a:p>
          <a:p>
            <a:pPr lvl="1">
              <a:defRPr sz="1400"/>
            </a:pPr>
            <a:r>
              <a:t>tools/call: Execute tool and return results</a:t>
            </a:r>
          </a:p>
          <a:p>
            <a:pPr lvl="1">
              <a:defRPr sz="1400"/>
            </a:pPr>
            <a:r>
              <a:t>notifications/initialized: Acknowledge initialization</a:t>
            </a:r>
          </a:p>
          <a:p>
            <a:pPr lvl="1">
              <a:defRPr sz="1400"/>
            </a:pPr>
            <a:r>
              <a:t>ping: Health check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Public Access:</a:t>
            </a:r>
          </a:p>
          <a:p>
            <a:pPr lvl="1">
              <a:defRPr sz="1400"/>
            </a:pPr>
            <a:r>
              <a:t>ngrok tunnel: https://famished-vertebrae-basil.ngrok-free.dev/mcp</a:t>
            </a:r>
          </a:p>
          <a:p>
            <a:pPr lvl="1">
              <a:defRPr sz="1400"/>
            </a:pPr>
            <a:r>
              <a:t>All tools tested and working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5-7: IBM ICA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5: Basic Agent Creation</a:t>
            </a:r>
          </a:p>
          <a:p>
            <a:pPr lvl="1">
              <a:defRPr sz="1400"/>
            </a:pPr>
            <a:r>
              <a:t>Created TravelRefundAdvisor in Agent Studio</a:t>
            </a:r>
          </a:p>
          <a:p>
            <a:pPr lvl="1">
              <a:defRPr sz="1400"/>
            </a:pPr>
            <a:r>
              <a:t>Conversational interface configured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Step 6: Agent Orchestration</a:t>
            </a:r>
          </a:p>
          <a:p>
            <a:pPr lvl="1">
              <a:defRPr sz="1400"/>
            </a:pPr>
            <a:r>
              <a:t>LangGraph + ReAct pattern</a:t>
            </a:r>
          </a:p>
          <a:p>
            <a:pPr lvl="1">
              <a:defRPr sz="1400"/>
            </a:pPr>
            <a:r>
              <a:t>gpt-5.2 model</a:t>
            </a:r>
          </a:p>
          <a:p>
            <a:pPr lvl="1">
              <a:defRPr sz="1400"/>
            </a:pPr>
            <a:r>
              <a:t>All 7 MCP tools integrated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Step 7: Linking to MCP Server</a:t>
            </a:r>
          </a:p>
          <a:p>
            <a:pPr lvl="1">
              <a:defRPr sz="1400"/>
            </a:pPr>
            <a:r>
              <a:t>Registered External MCP Server in ICA Tools</a:t>
            </a:r>
          </a:p>
          <a:p>
            <a:pPr lvl="1">
              <a:defRPr sz="1400"/>
            </a:pPr>
            <a:r>
              <a:t>Tool discovery successful (7 tools)</a:t>
            </a:r>
          </a:p>
          <a:p>
            <a:pPr lvl="1">
              <a:defRPr sz="1400"/>
            </a:pPr>
            <a:r>
              <a:t>End-to-end integration working</a:t>
            </a:r>
          </a:p>
          <a:p>
            <a:pPr lvl="1">
              <a:defRPr sz="1400"/>
            </a:pPr>
            <a:r>
              <a:t>Agent successfully calling tools and retrieving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8: Demo Preparation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Demo Prompts Tested</a:t>
            </a:r>
          </a:p>
          <a:p>
            <a:pPr lvl="1">
              <a:defRPr sz="1300"/>
            </a:pPr>
            <a:r>
              <a:t>1. Show all travel bookings (53 bookings retrieved)</a:t>
            </a:r>
          </a:p>
          <a:p>
            <a:pPr lvl="1">
              <a:defRPr sz="1300"/>
            </a:pPr>
            <a:r>
              <a:t>2. Get booking details for specific ID</a:t>
            </a:r>
          </a:p>
          <a:p>
            <a:pPr lvl="1">
              <a:defRPr sz="1300"/>
            </a:pPr>
            <a:r>
              <a:t>3. Estimate refund with ML (95% confidence intervals)</a:t>
            </a:r>
          </a:p>
          <a:p>
            <a:pPr lvl="1">
              <a:defRPr sz="1300"/>
            </a:pPr>
            <a:r>
              <a:t>4. Compare severity scenarios</a:t>
            </a:r>
          </a:p>
          <a:p>
            <a:pPr lvl="1">
              <a:defRPr sz="1300"/>
            </a:pPr>
            <a:r>
              <a:t>5. Global risk events assessment</a:t>
            </a:r>
          </a:p>
          <a:p>
            <a:pPr lvl="1">
              <a:defRPr sz="1300"/>
            </a:pPr>
            <a:r>
              <a:t>6. Regional risk checks (e.g., Ukraine)</a:t>
            </a:r>
          </a:p>
          <a:p>
            <a:pPr lvl="1">
              <a:defRPr sz="1300"/>
            </a:pPr>
            <a:r>
              <a:t>7. Historical refund statistics</a:t>
            </a:r>
          </a:p>
          <a:p>
            <a:pPr lvl="1">
              <a:defRPr sz="1300"/>
            </a:pPr>
            <a:r>
              <a:t>8. Provider policy comparison</a:t>
            </a:r>
          </a:p>
          <a:p>
            <a:pPr lvl="1">
              <a:defRPr sz="1300"/>
            </a:pPr>
            <a:r>
              <a:t>9. Multi-component analysis</a:t>
            </a:r>
          </a:p>
          <a:p>
            <a:pPr lvl="1">
              <a:defRPr sz="1300"/>
            </a:pPr>
            <a:r>
              <a:t>10. AI explainability (confidence interval meaning)</a:t>
            </a:r>
          </a:p>
          <a:p>
            <a:pPr>
              <a:defRPr sz="1300"/>
            </a:pPr>
          </a:p>
          <a:p>
            <a:pPr lvl="1">
              <a:defRPr sz="1300"/>
            </a:pPr>
            <a:r>
              <a:t>All prompts working successfully!</a:t>
            </a:r>
          </a:p>
          <a:p>
            <a:pPr lvl="1">
              <a:defRPr sz="1300"/>
            </a:pPr>
            <a:r>
              <a:t>Terminal logs confirm MCP tool calls</a:t>
            </a:r>
          </a:p>
          <a:p>
            <a:pPr lvl="1">
              <a:defRPr sz="1300"/>
            </a:pPr>
            <a:r>
              <a:t>Complete documentation created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IBM ICA Platform</a:t>
            </a:r>
          </a:p>
          <a:p>
            <a:pPr lvl="1">
              <a:defRPr sz="1400"/>
            </a:pPr>
            <a:r>
              <a:t>Agent Orchestration (LangGraph + ReAct)</a:t>
            </a:r>
          </a:p>
          <a:p>
            <a:pPr lvl="1">
              <a:defRPr sz="1400"/>
            </a:pPr>
            <a:r>
              <a:t>MCP Server (External) - Tool discovery &amp; calling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Local Development Environment</a:t>
            </a:r>
          </a:p>
          <a:p>
            <a:pPr lvl="1">
              <a:defRPr sz="1400"/>
            </a:pPr>
            <a:r>
              <a:t>FastAPI Backend - 11 REST endpoints, MCP endpoint</a:t>
            </a:r>
          </a:p>
          <a:p>
            <a:pPr lvl="1">
              <a:defRPr sz="1400"/>
            </a:pPr>
            <a:r>
              <a:t>ML Models - Random Forest + Gradient Boosting</a:t>
            </a:r>
          </a:p>
          <a:p>
            <a:pPr lvl="1">
              <a:defRPr sz="1400"/>
            </a:pPr>
            <a:r>
              <a:t>SQLite Database - 6 tables with relationships</a:t>
            </a:r>
          </a:p>
          <a:p>
            <a:pPr lvl="1">
              <a:defRPr sz="1400"/>
            </a:pPr>
            <a:r>
              <a:t>React Frontend - 7 pages, interactive charts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Integration Layer</a:t>
            </a:r>
          </a:p>
          <a:p>
            <a:pPr lvl="1">
              <a:defRPr sz="1400"/>
            </a:pPr>
            <a:r>
              <a:t>JSON-RPC 2.0 protocol</a:t>
            </a:r>
          </a:p>
          <a:p>
            <a:pPr lvl="1">
              <a:defRPr sz="1400"/>
            </a:pPr>
            <a:r>
              <a:t>ngrok tunnel for public access</a:t>
            </a:r>
          </a:p>
          <a:p>
            <a:pPr lvl="1">
              <a:defRPr sz="1400"/>
            </a:pPr>
            <a:r>
              <a:t>HTTPS communication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Excellence</a:t>
            </a:r>
          </a:p>
          <a:p>
            <a:pPr lvl="1">
              <a:defRPr sz="1300"/>
            </a:pPr>
            <a:r>
              <a:t>Full-stack application (React + FastAPI)</a:t>
            </a:r>
          </a:p>
          <a:p>
            <a:pPr lvl="1">
              <a:defRPr sz="1300"/>
            </a:pPr>
            <a:r>
              <a:t>ML sophistication (ensemble with confidence intervals)</a:t>
            </a:r>
          </a:p>
          <a:p>
            <a:pPr lvl="1">
              <a:defRPr sz="1300"/>
            </a:pPr>
            <a:r>
              <a:t>MCP protocol implementation</a:t>
            </a:r>
          </a:p>
          <a:p>
            <a:pPr lvl="1">
              <a:defRPr sz="1300"/>
            </a:pPr>
            <a:r>
              <a:t>IBM ICA Agent Orchestration integration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Innovation</a:t>
            </a:r>
          </a:p>
          <a:p>
            <a:pPr lvl="1">
              <a:defRPr sz="1300"/>
            </a:pPr>
            <a:r>
              <a:t>Uncertainty quantification (95% CI, not just predictions)</a:t>
            </a:r>
          </a:p>
          <a:p>
            <a:pPr lvl="1">
              <a:defRPr sz="1300"/>
            </a:pPr>
            <a:r>
              <a:t>Force majeure specialized handling</a:t>
            </a:r>
          </a:p>
          <a:p>
            <a:pPr lvl="1">
              <a:defRPr sz="1300"/>
            </a:pPr>
            <a:r>
              <a:t>Multi-component granular analysis</a:t>
            </a:r>
          </a:p>
          <a:p>
            <a:pPr lvl="1">
              <a:defRPr sz="1300"/>
            </a:pPr>
            <a:r>
              <a:t>AI transparency and explainability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Business Value</a:t>
            </a:r>
          </a:p>
          <a:p>
            <a:pPr lvl="1">
              <a:defRPr sz="1300"/>
            </a:pPr>
            <a:r>
              <a:t>Reduces customer service load (instant estimates)</a:t>
            </a:r>
          </a:p>
          <a:p>
            <a:pPr lvl="1">
              <a:defRPr sz="1300"/>
            </a:pPr>
            <a:r>
              <a:t>Improves customer satisfaction (transparent answers)</a:t>
            </a:r>
          </a:p>
          <a:p>
            <a:pPr lvl="1">
              <a:defRPr sz="1300"/>
            </a:pPr>
            <a:r>
              <a:t>Real-time risk management</a:t>
            </a:r>
          </a:p>
          <a:p>
            <a:pPr lvl="1">
              <a:defRPr sz="1300"/>
            </a:pPr>
            <a:r>
              <a:t>Scalable, production-ready architecture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Overcome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MCP Protocol Implementation</a:t>
            </a:r>
          </a:p>
          <a:p>
            <a:pPr lvl="1">
              <a:defRPr sz="1200"/>
            </a:pPr>
            <a:r>
              <a:t>Problem: Limited documentation, FastMCP compatibility issues</a:t>
            </a:r>
          </a:p>
          <a:p>
            <a:pPr lvl="1">
              <a:defRPr sz="1200"/>
            </a:pPr>
            <a:r>
              <a:t>Solution: Custom implementation using JSON-RPC 2.0 directly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2. ICA Tool Registry</a:t>
            </a:r>
          </a:p>
          <a:p>
            <a:pPr lvl="1">
              <a:defRPr sz="1200"/>
            </a:pPr>
            <a:r>
              <a:t>Problem: External MCP Server not appearing in Agent Orchestration</a:t>
            </a:r>
          </a:p>
          <a:p>
            <a:pPr lvl="1">
              <a:defRPr sz="1200"/>
            </a:pPr>
            <a:r>
              <a:t>Solution: Discovered separate registries, proper visibility settings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3. Confidence Interval Calculation</a:t>
            </a:r>
          </a:p>
          <a:p>
            <a:pPr lvl="1">
              <a:defRPr sz="1200"/>
            </a:pPr>
            <a:r>
              <a:t>Problem: Single models don't provide uncertainty estimates</a:t>
            </a:r>
          </a:p>
          <a:p>
            <a:pPr lvl="1">
              <a:defRPr sz="1200"/>
            </a:pPr>
            <a:r>
              <a:t>Solution: Ensemble approach with prediction variance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4. Unicode Encoding (Windows)</a:t>
            </a:r>
          </a:p>
          <a:p>
            <a:pPr lvl="1">
              <a:defRPr sz="1200"/>
            </a:pPr>
            <a:r>
              <a:t>Problem: Emoji characters causing crashes</a:t>
            </a:r>
          </a:p>
          <a:p>
            <a:pPr lvl="1">
              <a:defRPr sz="1200"/>
            </a:pPr>
            <a:r>
              <a:t>Solution: Replaced with ASCII text markers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Quantitative Results</a:t>
            </a:r>
          </a:p>
          <a:p>
            <a:pPr lvl="1">
              <a:defRPr sz="1300"/>
            </a:pPr>
            <a:r>
              <a:t>11 API endpoints - All functional</a:t>
            </a:r>
          </a:p>
          <a:p>
            <a:pPr lvl="1">
              <a:defRPr sz="1300"/>
            </a:pPr>
            <a:r>
              <a:t>7 MCP tools - Successfully integrated</a:t>
            </a:r>
          </a:p>
          <a:p>
            <a:pPr lvl="1">
              <a:defRPr sz="1300"/>
            </a:pPr>
            <a:r>
              <a:t>95% confidence intervals - Uncertainty quantification</a:t>
            </a:r>
          </a:p>
          <a:p>
            <a:pPr lvl="1">
              <a:defRPr sz="1300"/>
            </a:pPr>
            <a:r>
              <a:t>53 sample bookings - Realistic test data</a:t>
            </a:r>
          </a:p>
          <a:p>
            <a:pPr lvl="1">
              <a:defRPr sz="1300"/>
            </a:pPr>
            <a:r>
              <a:t>500+ historical records - ML training data</a:t>
            </a:r>
          </a:p>
          <a:p>
            <a:pPr lvl="1">
              <a:defRPr sz="1300"/>
            </a:pPr>
            <a:r>
              <a:t>100% success rate - All demo prompts working</a:t>
            </a:r>
          </a:p>
          <a:p>
            <a:pPr>
              <a:defRPr sz="1300"/>
            </a:pPr>
          </a:p>
          <a:p>
            <a:pPr>
              <a:defRPr sz="1300"/>
            </a:pPr>
            <a:r>
              <a:t>Qualitative Impact</a:t>
            </a:r>
          </a:p>
          <a:p>
            <a:pPr lvl="1">
              <a:defRPr sz="1300"/>
            </a:pPr>
            <a:r>
              <a:t>Customer Experience: Instant, transparent estimates</a:t>
            </a:r>
          </a:p>
          <a:p>
            <a:pPr lvl="1">
              <a:defRPr sz="1300"/>
            </a:pPr>
            <a:r>
              <a:t>Business Efficiency: Automated vs manual process</a:t>
            </a:r>
          </a:p>
          <a:p>
            <a:pPr lvl="1">
              <a:defRPr sz="1300"/>
            </a:pPr>
            <a:r>
              <a:t>Risk Management: Real-time global monitoring</a:t>
            </a:r>
          </a:p>
          <a:p>
            <a:pPr lvl="1">
              <a:defRPr sz="1300"/>
            </a:pPr>
            <a:r>
              <a:t>AI Transparency: Explainable predictions</a:t>
            </a:r>
          </a:p>
          <a:p>
            <a:pPr lvl="1">
              <a:defRPr sz="1300"/>
            </a:pPr>
            <a:r>
              <a:t>Enterprise Ready: IBM ICA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 System Built in 48 Hours</a:t>
            </a:r>
          </a:p>
          <a:p>
            <a:pPr>
              <a:defRPr sz="1600" b="0"/>
            </a:pPr>
          </a:p>
          <a:p>
            <a:pPr>
              <a:defRPr sz="1600" b="1"/>
            </a:pPr>
            <a:r>
              <a:t>Technical Excellence: Full-stack with ML and enterprise integration</a:t>
            </a:r>
          </a:p>
          <a:p>
            <a:pPr>
              <a:defRPr sz="1600" b="1"/>
            </a:pPr>
            <a:r>
              <a:t>Innovation: Uncertainty quantification and AI transparency</a:t>
            </a:r>
          </a:p>
          <a:p>
            <a:pPr>
              <a:defRPr sz="1600" b="1"/>
            </a:pPr>
            <a:r>
              <a:t>Business Value: Solves real travel industry problem</a:t>
            </a:r>
          </a:p>
          <a:p>
            <a:pPr>
              <a:defRPr sz="1600" b="1"/>
            </a:pPr>
            <a:r>
              <a:t>Production Quality: Professional code, docs, testing</a:t>
            </a:r>
          </a:p>
          <a:p>
            <a:pPr>
              <a:defRPr sz="1600" b="0"/>
            </a:pPr>
          </a:p>
          <a:p>
            <a:pPr>
              <a:defRPr sz="1600" b="0"/>
            </a:pPr>
            <a:r>
              <a:t>Integration with IBM ICA through MCP protocol showcases</a:t>
            </a:r>
          </a:p>
          <a:p>
            <a:pPr>
              <a:defRPr sz="1600" b="0"/>
            </a:pPr>
            <a:r>
              <a:t>how modern AI agents can connect to specialized business</a:t>
            </a:r>
          </a:p>
          <a:p>
            <a:pPr>
              <a:defRPr sz="1600" b="0"/>
            </a:pPr>
            <a:r>
              <a:t>applications, creating powerful, transparent, user-friendly solutions.</a:t>
            </a:r>
          </a:p>
          <a:p>
            <a:pPr>
              <a:defRPr sz="1600" b="0"/>
            </a:pPr>
          </a:p>
          <a:p>
            <a:pPr>
              <a:defRPr sz="1600" b="0"/>
            </a:pPr>
            <a:r>
              <a:t>This project represents the future of AI-powered</a:t>
            </a:r>
          </a:p>
          <a:p>
            <a:pPr>
              <a:defRPr sz="1600" b="0"/>
            </a:pPr>
            <a:r>
              <a:t>business applications: intelligent, explainable,</a:t>
            </a:r>
          </a:p>
          <a:p>
            <a:pPr>
              <a:defRPr sz="1600" b="0"/>
            </a:pPr>
            <a:r>
              <a:t>and seamlessly integrated.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t>Bob ICA Catalysts Hackathon May 2026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Team: Abhijit Joshi</a:t>
            </a:r>
          </a:p>
          <a:p>
            <a:pPr algn="ctr">
              <a:defRPr sz="1800">
                <a:solidFill>
                  <a:srgbClr val="C8C8C8"/>
                </a:solidFill>
              </a:defRPr>
            </a:pPr>
            <a:r>
              <a:t>Version 1.1 - Updated with Context Studio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