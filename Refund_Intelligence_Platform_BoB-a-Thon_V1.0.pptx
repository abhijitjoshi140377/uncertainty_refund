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7" r:id="rId5"/>
    <p:sldId id="259" r:id="rId6"/>
    <p:sldId id="262" r:id="rId7"/>
    <p:sldId id="263" r:id="rId8"/>
    <p:sldId id="266" r:id="rId9"/>
    <p:sldId id="264" r:id="rId10"/>
    <p:sldId id="261" r:id="rId11"/>
    <p:sldId id="269" r:id="rId12"/>
    <p:sldId id="268" r:id="rId13"/>
    <p:sldId id="265" r:id="rId14"/>
    <p:sldId id="260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8503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C02C2-B9AC-9F12-926B-8C0F73EA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44DA17-2F08-F57B-9F0F-C5D14F80C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B7A40-C32F-A4C2-AF57-FC8728964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783FF-69DF-D7D4-3A6C-5A9DF3EC6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37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E4EE-D658-2906-82A1-B466ADA03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0A42DE-919C-A470-397E-9C3B5B013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C7190-226D-BD13-79EF-AC88B3491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F8DB8-A6DE-2038-041D-10AACD8DEF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8787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E867A-E5BB-B894-36D2-3FCAEB26E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E4922-5615-D6EA-29AA-E77F8F33CA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865058-894C-0206-EA48-DA0594EE56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1660B7-CC6E-8634-F273-55329164D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7451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8C86B-6B00-396E-C958-ADC3A73C9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32193-1C94-13DC-657A-979A68B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403EF-85CB-3427-EAF1-A89CBCF11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3360C-71C9-7C9E-C388-A5F5B797E9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214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B3A83-4848-5161-9300-F21940ADB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86CE98-B84A-FC7B-F1E7-45E488702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16BE91-9F3A-3F2E-5417-317EEB0C98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7846DB-9A31-8308-4E8B-808D6D46E7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8820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EAD4D-F4A7-8E7A-196D-6DC44AEF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BA11E-8D99-7B7C-502A-6D2A23C5EE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9D3942-5F7B-75F6-B729-4ACBC95DA2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359D3D-C2B0-D67F-F227-2F7D553C31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1508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ED1F9-01E9-6219-3547-4623ECD0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999BBE-088A-9235-9C29-2C7E52C89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5A54-FAC8-B7E2-B828-9AC3F5C4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5F721-234F-6C4E-8D0B-CAEACB9914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9546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50A92-D311-3854-6755-725C4185F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A190E6-0C35-B792-A9C3-4489EB470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A21AD-678E-47BA-DE25-53B8BE670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85E48-F672-CCC0-EC40-5DB1AD008E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8924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53655-0B91-9737-A1F5-610708FB5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2906E9-720D-65F7-FD7F-0A0A712A0E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D3CE68-6F43-2074-D26D-2FE23FC3B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80557-76D3-9884-8838-C68ACE1E4F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0392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DCB87-EDF0-C3A5-CA71-5651E1752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BF8A6-19BF-CF79-BDC6-34F470F73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578976-6AA0-87C9-34BC-47CDDB5AD3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EFB7F-F4D7-5E1F-C32F-8779E6773F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13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C5CB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280160" y="1394460"/>
            <a:ext cx="73222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 Refund Intelligence Platform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280160" y="21717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travel cost refund estimation &amp; risk monitoring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2985516"/>
            <a:ext cx="2148840" cy="384048"/>
          </a:xfrm>
          <a:prstGeom prst="roundRect">
            <a:avLst>
              <a:gd name="adj" fmla="val 28571"/>
            </a:avLst>
          </a:prstGeom>
          <a:solidFill>
            <a:srgbClr val="D6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280160" y="29855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Modeling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2985516"/>
            <a:ext cx="2148840" cy="384048"/>
          </a:xfrm>
          <a:prstGeom prst="roundRect">
            <a:avLst>
              <a:gd name="adj" fmla="val 28571"/>
            </a:avLst>
          </a:prstGeom>
          <a:solidFill>
            <a:srgbClr val="D6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611880" y="29855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Majeure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2985516"/>
            <a:ext cx="2148840" cy="384048"/>
          </a:xfrm>
          <a:prstGeom prst="roundRect">
            <a:avLst>
              <a:gd name="adj" fmla="val 28571"/>
            </a:avLst>
          </a:prstGeom>
          <a:solidFill>
            <a:srgbClr val="D6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943600" y="29855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097280"/>
            <a:ext cx="40690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20700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Uncertain Travel Cost Refund Outcomes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majeure events make refund decisions unpredictable — no consistent framework exists.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0690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892040" y="120700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🐢  Manual &amp; Slow Estimation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92040" y="1572768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teams rely on ad-hoc judgment, creating inconsistent and hard-to-explain decisions.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2788920"/>
            <a:ext cx="40690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48640" y="289864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No Unified Historical View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264408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refund outcomes are scattered — impossible to compare across calamity types or booking components.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2788920"/>
            <a:ext cx="40690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92040" y="289864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No Risk Visibility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3264408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disruptions (war, pandemic, disaster) are not linked to refund reasoning in real-time.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C5CB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051560"/>
            <a:ext cx="41605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64008" cy="109728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94360" y="1143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Refund Estimation Engine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490472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Forest, Gradient Boosting &amp; Rule-based models with confidence ranges &amp; risk scores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1480" y="2313432"/>
            <a:ext cx="41605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11480" y="2313432"/>
            <a:ext cx="64008" cy="109728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94360" y="24048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Booking Management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75234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booking lifecycle with component-level cost tracking and refund workflows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3575304"/>
            <a:ext cx="41605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11480" y="3575304"/>
            <a:ext cx="64008" cy="109728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94360" y="36667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Risk Event Monitor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401421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disruptions (war, disaster, pandemic) — directly feeds refund reasoning engine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051560"/>
            <a:ext cx="41605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4754880" y="1051560"/>
            <a:ext cx="64008" cy="1645920"/>
          </a:xfrm>
          <a:prstGeom prst="rect">
            <a:avLst/>
          </a:prstGeom>
          <a:solidFill>
            <a:srgbClr val="7C5CB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937760" y="116128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Model Comparator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15544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Auto / Random Forest / Gradient Boosting / Rule-based side by side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2916936"/>
            <a:ext cx="41605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4754880" y="2916936"/>
            <a:ext cx="64008" cy="1645920"/>
          </a:xfrm>
          <a:prstGeom prst="rect">
            <a:avLst/>
          </a:prstGeom>
          <a:solidFill>
            <a:srgbClr val="7C5CB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937760" y="302666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Historical Analytics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419856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past refund patterns to explain and validate current estimates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4617720"/>
            <a:ext cx="4160520" cy="347472"/>
          </a:xfrm>
          <a:prstGeom prst="rect">
            <a:avLst/>
          </a:prstGeom>
          <a:solidFill>
            <a:srgbClr val="D6F5E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754880" y="46177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Real-time bell notifications for new bookings &amp; risk events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20A8A4-D27C-4167-FFF9-491948DB4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D79F357-E653-70FB-001A-5E3581CD965F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C5CB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4EA191D-65F8-4DC8-0C53-BA1C5EC297D2}"/>
              </a:ext>
            </a:extLst>
          </p:cNvPr>
          <p:cNvSpPr/>
          <p:nvPr/>
        </p:nvSpPr>
        <p:spPr>
          <a:xfrm>
            <a:off x="618982" y="-9319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5CBF"/>
                </a:solidFill>
                <a:latin typeface="IBM Plex Sans" panose="020B0503050203000203" pitchFamily="34" charset="0"/>
                <a:ea typeface="Calibri" pitchFamily="34" charset="-122"/>
                <a:cs typeface="Calibri" pitchFamily="34" charset="-120"/>
              </a:rPr>
              <a:t>Bob-a-thon Journey: 8 steps to success</a:t>
            </a:r>
            <a:endParaRPr lang="en-US" sz="2000" dirty="0">
              <a:latin typeface="IBM Plex Sans" panose="020B0503050203000203" pitchFamily="34" charset="0"/>
            </a:endParaRP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192AA6CA-FF2A-C3FA-FF88-9108EB8FA164}"/>
              </a:ext>
            </a:extLst>
          </p:cNvPr>
          <p:cNvSpPr txBox="1">
            <a:spLocks/>
          </p:cNvSpPr>
          <p:nvPr/>
        </p:nvSpPr>
        <p:spPr>
          <a:xfrm>
            <a:off x="429066" y="463673"/>
            <a:ext cx="8229600" cy="184990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latin typeface="IBM Plex Sans" panose="020B0503050203000203" pitchFamily="34" charset="0"/>
              </a:rPr>
              <a:t>1. Project Ideation with Bob AI Assistant</a:t>
            </a:r>
          </a:p>
          <a:p>
            <a:pPr>
              <a:defRPr sz="1800"/>
            </a:pPr>
            <a:r>
              <a:rPr lang="en-US" sz="1200" dirty="0">
                <a:latin typeface="IBM Plex Sans" panose="020B0503050203000203" pitchFamily="34" charset="0"/>
              </a:rPr>
              <a:t>2. Building Complete Full-Stack Application</a:t>
            </a:r>
          </a:p>
          <a:p>
            <a:pPr>
              <a:defRPr sz="1800"/>
            </a:pPr>
            <a:r>
              <a:rPr lang="en-US" sz="1200" dirty="0">
                <a:latin typeface="IBM Plex Sans" panose="020B0503050203000203" pitchFamily="34" charset="0"/>
              </a:rPr>
              <a:t>3. Creating Context Graph with Detailed Schema (812 lines)</a:t>
            </a:r>
          </a:p>
          <a:p>
            <a:pPr>
              <a:defRPr sz="1800"/>
            </a:pPr>
            <a:r>
              <a:rPr lang="en-US" sz="1200" dirty="0">
                <a:latin typeface="IBM Plex Sans" panose="020B0503050203000203" pitchFamily="34" charset="0"/>
              </a:rPr>
              <a:t>4. Implementing MCP Server with JSON-RPC 2.0</a:t>
            </a:r>
          </a:p>
          <a:p>
            <a:pPr>
              <a:defRPr sz="1800"/>
            </a:pPr>
            <a:r>
              <a:rPr lang="en-US" sz="1200" dirty="0">
                <a:latin typeface="IBM Plex Sans" panose="020B0503050203000203" pitchFamily="34" charset="0"/>
              </a:rPr>
              <a:t>5. Creating Basic Agent in ICA</a:t>
            </a:r>
          </a:p>
          <a:p>
            <a:pPr>
              <a:defRPr sz="1800"/>
            </a:pPr>
            <a:r>
              <a:rPr lang="en-US" sz="1200" dirty="0">
                <a:latin typeface="IBM Plex Sans" panose="020B0503050203000203" pitchFamily="34" charset="0"/>
              </a:rPr>
              <a:t>6. Building Agent Orchestration with </a:t>
            </a:r>
            <a:r>
              <a:rPr lang="en-US" sz="1200" dirty="0" err="1">
                <a:latin typeface="IBM Plex Sans" panose="020B0503050203000203" pitchFamily="34" charset="0"/>
              </a:rPr>
              <a:t>LangGraph</a:t>
            </a:r>
            <a:endParaRPr lang="en-US" sz="1200" dirty="0">
              <a:latin typeface="IBM Plex Sans" panose="020B0503050203000203" pitchFamily="34" charset="0"/>
            </a:endParaRPr>
          </a:p>
          <a:p>
            <a:pPr>
              <a:defRPr sz="1800"/>
            </a:pPr>
            <a:r>
              <a:rPr lang="en-US" sz="1200" dirty="0">
                <a:latin typeface="IBM Plex Sans" panose="020B0503050203000203" pitchFamily="34" charset="0"/>
              </a:rPr>
              <a:t>7. Linking Agent to MCP Server</a:t>
            </a:r>
          </a:p>
          <a:p>
            <a:pPr>
              <a:defRPr sz="1800"/>
            </a:pPr>
            <a:r>
              <a:rPr lang="en-US" sz="1200" dirty="0">
                <a:latin typeface="IBM Plex Sans" panose="020B0503050203000203" pitchFamily="34" charset="0"/>
              </a:rPr>
              <a:t>8. Demo Preparation and Testing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9BB01122-B98C-4453-1C76-E7A1DB80F1EE}"/>
              </a:ext>
            </a:extLst>
          </p:cNvPr>
          <p:cNvSpPr txBox="1">
            <a:spLocks/>
          </p:cNvSpPr>
          <p:nvPr/>
        </p:nvSpPr>
        <p:spPr>
          <a:xfrm>
            <a:off x="604912" y="2554328"/>
            <a:ext cx="7842739" cy="344340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solidFill>
                  <a:srgbClr val="7C5CBF"/>
                </a:solidFill>
                <a:latin typeface="IBM Plex Sans" panose="020B0503050203000203" pitchFamily="34" charset="0"/>
                <a:ea typeface="Calibri" pitchFamily="34" charset="-122"/>
                <a:cs typeface="Calibri" pitchFamily="34" charset="-120"/>
              </a:rPr>
              <a:t>Project Ideation with Bob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0BCC720-B69E-D379-7B05-7B500D843753}"/>
              </a:ext>
            </a:extLst>
          </p:cNvPr>
          <p:cNvSpPr txBox="1">
            <a:spLocks/>
          </p:cNvSpPr>
          <p:nvPr/>
        </p:nvSpPr>
        <p:spPr>
          <a:xfrm>
            <a:off x="411480" y="3025193"/>
            <a:ext cx="8229601" cy="2002888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200" dirty="0">
                <a:latin typeface="IBM Plex Sans" panose="020B0503050203000203" pitchFamily="34" charset="0"/>
              </a:rPr>
              <a:t>Problem Statement</a:t>
            </a:r>
          </a:p>
          <a:p>
            <a:pPr lvl="1">
              <a:defRPr sz="1600"/>
            </a:pPr>
            <a:r>
              <a:rPr lang="en-IN" sz="1200" dirty="0">
                <a:latin typeface="IBM Plex Sans" panose="020B0503050203000203" pitchFamily="34" charset="0"/>
              </a:rPr>
              <a:t>Travel companies struggle with refund estimation during force majeure</a:t>
            </a:r>
          </a:p>
          <a:p>
            <a:pPr lvl="1">
              <a:defRPr sz="1600"/>
            </a:pPr>
            <a:r>
              <a:rPr lang="en-IN" sz="1200" dirty="0">
                <a:latin typeface="IBM Plex Sans" panose="020B0503050203000203" pitchFamily="34" charset="0"/>
              </a:rPr>
              <a:t>Manual process is inconsistent and time-consuming</a:t>
            </a:r>
          </a:p>
          <a:p>
            <a:pPr lvl="1">
              <a:defRPr sz="1600"/>
            </a:pPr>
            <a:r>
              <a:rPr lang="en-IN" sz="1200" dirty="0">
                <a:latin typeface="IBM Plex Sans" panose="020B0503050203000203" pitchFamily="34" charset="0"/>
              </a:rPr>
              <a:t>Customers need transparent, data-driven estimates</a:t>
            </a:r>
          </a:p>
          <a:p>
            <a:pPr>
              <a:defRPr sz="1600"/>
            </a:pPr>
            <a:r>
              <a:rPr lang="en-IN" sz="1200" dirty="0">
                <a:latin typeface="IBM Plex Sans" panose="020B0503050203000203" pitchFamily="34" charset="0"/>
              </a:rPr>
              <a:t>Solution: AI-Powered System</a:t>
            </a:r>
          </a:p>
          <a:p>
            <a:pPr lvl="1">
              <a:defRPr sz="1600"/>
            </a:pPr>
            <a:r>
              <a:rPr lang="en-IN" sz="1200" dirty="0">
                <a:latin typeface="IBM Plex Sans" panose="020B0503050203000203" pitchFamily="34" charset="0"/>
              </a:rPr>
              <a:t>ML predictions with 95% confidence intervals</a:t>
            </a:r>
          </a:p>
          <a:p>
            <a:pPr lvl="1">
              <a:defRPr sz="1600"/>
            </a:pPr>
            <a:r>
              <a:rPr lang="en-IN" sz="1200" dirty="0">
                <a:latin typeface="IBM Plex Sans" panose="020B0503050203000203" pitchFamily="34" charset="0"/>
              </a:rPr>
              <a:t>Real-time risk assessment</a:t>
            </a:r>
          </a:p>
          <a:p>
            <a:pPr lvl="1">
              <a:defRPr sz="1600"/>
            </a:pPr>
            <a:r>
              <a:rPr lang="en-IN" sz="1200" dirty="0">
                <a:latin typeface="IBM Plex Sans" panose="020B0503050203000203" pitchFamily="34" charset="0"/>
              </a:rPr>
              <a:t>Multi-component booking support</a:t>
            </a:r>
          </a:p>
          <a:p>
            <a:pPr lvl="1">
              <a:defRPr sz="1600"/>
            </a:pPr>
            <a:r>
              <a:rPr lang="en-IN" sz="1200" dirty="0">
                <a:latin typeface="IBM Plex Sans" panose="020B0503050203000203" pitchFamily="34" charset="0"/>
              </a:rPr>
              <a:t>IBM ICA integration for enterprise deployment</a:t>
            </a:r>
          </a:p>
        </p:txBody>
      </p:sp>
    </p:spTree>
    <p:extLst>
      <p:ext uri="{BB962C8B-B14F-4D97-AF65-F5344CB8AC3E}">
        <p14:creationId xmlns:p14="http://schemas.microsoft.com/office/powerpoint/2010/main" val="331725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096586" y="5712"/>
            <a:ext cx="1836105" cy="41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0C0DAF5-D407-AC5E-F9A3-A5367FF58F8E}"/>
              </a:ext>
            </a:extLst>
          </p:cNvPr>
          <p:cNvSpPr txBox="1">
            <a:spLocks/>
          </p:cNvSpPr>
          <p:nvPr/>
        </p:nvSpPr>
        <p:spPr>
          <a:xfrm>
            <a:off x="247592" y="672904"/>
            <a:ext cx="3172264" cy="428595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200" dirty="0">
                <a:latin typeface="IBM Plex Sans" panose="020B0503050203000203" pitchFamily="34" charset="0"/>
              </a:rPr>
              <a:t>Frontend: React 18 + Vite</a:t>
            </a:r>
          </a:p>
          <a:p>
            <a:pPr lvl="1"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7 pages: Dashboard, Bookings, Analytics, Risk Monitor</a:t>
            </a:r>
          </a:p>
          <a:p>
            <a:pPr lvl="1"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Interactive charts with Recharts</a:t>
            </a:r>
          </a:p>
          <a:p>
            <a:pPr lvl="1"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Responsive design with SCSS</a:t>
            </a:r>
          </a:p>
          <a:p>
            <a:pPr>
              <a:defRPr sz="1400"/>
            </a:pPr>
            <a:endParaRPr lang="en-IN" sz="1200" dirty="0">
              <a:latin typeface="IBM Plex Sans" panose="020B0503050203000203" pitchFamily="34" charset="0"/>
            </a:endParaRPr>
          </a:p>
          <a:p>
            <a:pPr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Backend: </a:t>
            </a:r>
            <a:r>
              <a:rPr lang="en-IN" sz="1200" dirty="0" err="1">
                <a:latin typeface="IBM Plex Sans" panose="020B0503050203000203" pitchFamily="34" charset="0"/>
              </a:rPr>
              <a:t>FastAPI</a:t>
            </a:r>
            <a:r>
              <a:rPr lang="en-IN" sz="1200" dirty="0">
                <a:latin typeface="IBM Plex Sans" panose="020B0503050203000203" pitchFamily="34" charset="0"/>
              </a:rPr>
              <a:t> + Python</a:t>
            </a:r>
          </a:p>
          <a:p>
            <a:pPr lvl="1"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11 REST API endpoints</a:t>
            </a:r>
          </a:p>
          <a:p>
            <a:pPr lvl="1"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SQLite database with </a:t>
            </a:r>
            <a:r>
              <a:rPr lang="en-IN" sz="1200" dirty="0" err="1">
                <a:latin typeface="IBM Plex Sans" panose="020B0503050203000203" pitchFamily="34" charset="0"/>
              </a:rPr>
              <a:t>SQLAlchemy</a:t>
            </a:r>
            <a:r>
              <a:rPr lang="en-IN" sz="1200" dirty="0">
                <a:latin typeface="IBM Plex Sans" panose="020B0503050203000203" pitchFamily="34" charset="0"/>
              </a:rPr>
              <a:t> ORM</a:t>
            </a:r>
          </a:p>
          <a:p>
            <a:pPr lvl="1"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500+ synthetic records for testing</a:t>
            </a:r>
          </a:p>
          <a:p>
            <a:pPr>
              <a:defRPr sz="1400"/>
            </a:pPr>
            <a:endParaRPr lang="en-IN" sz="1200" dirty="0">
              <a:latin typeface="IBM Plex Sans" panose="020B0503050203000203" pitchFamily="34" charset="0"/>
            </a:endParaRPr>
          </a:p>
          <a:p>
            <a:pPr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ML Models: scikit-learn</a:t>
            </a:r>
          </a:p>
          <a:p>
            <a:pPr lvl="1"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Random Forest + Gradient Boosting ensemble</a:t>
            </a:r>
          </a:p>
          <a:p>
            <a:pPr lvl="1"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95% confidence interval calculation</a:t>
            </a:r>
          </a:p>
          <a:p>
            <a:pPr lvl="1">
              <a:defRPr sz="1400"/>
            </a:pPr>
            <a:r>
              <a:rPr lang="en-IN" sz="1200" dirty="0">
                <a:latin typeface="IBM Plex Sans" panose="020B0503050203000203" pitchFamily="34" charset="0"/>
              </a:rPr>
              <a:t>Uncertainty quantification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EF4D86B-3723-1387-E253-360C29743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856" y="754505"/>
            <a:ext cx="5534257" cy="41227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10C915-3E0A-2C4F-ED81-2C75B39AA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8A6D02-2BBA-5EB7-32CB-2706972DD199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7537446-F92A-BC39-1013-730F4935E010}"/>
              </a:ext>
            </a:extLst>
          </p:cNvPr>
          <p:cNvSpPr/>
          <p:nvPr/>
        </p:nvSpPr>
        <p:spPr>
          <a:xfrm>
            <a:off x="4096586" y="62284"/>
            <a:ext cx="1836105" cy="41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Screens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9D0A45D-D90F-DBDB-E851-CACA993AC880}"/>
              </a:ext>
            </a:extLst>
          </p:cNvPr>
          <p:cNvSpPr/>
          <p:nvPr/>
        </p:nvSpPr>
        <p:spPr>
          <a:xfrm>
            <a:off x="154727" y="629772"/>
            <a:ext cx="3084007" cy="1709928"/>
          </a:xfrm>
          <a:prstGeom prst="rect">
            <a:avLst/>
          </a:prstGeom>
          <a:solidFill>
            <a:srgbClr val="EEE8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DCE3578-B31D-186D-3302-B609E6FE6462}"/>
              </a:ext>
            </a:extLst>
          </p:cNvPr>
          <p:cNvSpPr/>
          <p:nvPr/>
        </p:nvSpPr>
        <p:spPr>
          <a:xfrm>
            <a:off x="241703" y="702924"/>
            <a:ext cx="2911500" cy="1580850"/>
          </a:xfrm>
          <a:prstGeom prst="rect">
            <a:avLst/>
          </a:prstGeom>
          <a:solidFill>
            <a:srgbClr val="EEE8FF"/>
          </a:solidFill>
          <a:ln w="12700">
            <a:solidFill>
              <a:srgbClr val="C3B5F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3B86F8B-81CD-8D2A-9BE3-2A58029669C1}"/>
              </a:ext>
            </a:extLst>
          </p:cNvPr>
          <p:cNvSpPr/>
          <p:nvPr/>
        </p:nvSpPr>
        <p:spPr>
          <a:xfrm>
            <a:off x="1052568" y="353325"/>
            <a:ext cx="1448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7359D22-E515-B8C8-7C7F-DFCDD78E9F58}"/>
              </a:ext>
            </a:extLst>
          </p:cNvPr>
          <p:cNvSpPr/>
          <p:nvPr/>
        </p:nvSpPr>
        <p:spPr>
          <a:xfrm>
            <a:off x="6164747" y="603439"/>
            <a:ext cx="2940986" cy="1783080"/>
          </a:xfrm>
          <a:prstGeom prst="rect">
            <a:avLst/>
          </a:prstGeom>
          <a:solidFill>
            <a:srgbClr val="EEE8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021B396-8CF4-B590-4525-3C035D27D825}"/>
              </a:ext>
            </a:extLst>
          </p:cNvPr>
          <p:cNvSpPr/>
          <p:nvPr/>
        </p:nvSpPr>
        <p:spPr>
          <a:xfrm>
            <a:off x="6226722" y="676591"/>
            <a:ext cx="2785410" cy="1636776"/>
          </a:xfrm>
          <a:prstGeom prst="rect">
            <a:avLst/>
          </a:prstGeom>
          <a:solidFill>
            <a:srgbClr val="EEE8FF"/>
          </a:solidFill>
          <a:ln w="12700">
            <a:solidFill>
              <a:srgbClr val="C3B5F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50DBD82-E62B-718C-FBC4-36CB6516F16E}"/>
              </a:ext>
            </a:extLst>
          </p:cNvPr>
          <p:cNvSpPr/>
          <p:nvPr/>
        </p:nvSpPr>
        <p:spPr>
          <a:xfrm>
            <a:off x="6848509" y="305379"/>
            <a:ext cx="144828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Analytics</a:t>
            </a:r>
            <a:endParaRPr lang="en-US" sz="12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A9A2A54-9462-7E72-8902-5EBB04C84A85}"/>
              </a:ext>
            </a:extLst>
          </p:cNvPr>
          <p:cNvSpPr/>
          <p:nvPr/>
        </p:nvSpPr>
        <p:spPr>
          <a:xfrm>
            <a:off x="188964" y="3258781"/>
            <a:ext cx="3084007" cy="1783080"/>
          </a:xfrm>
          <a:prstGeom prst="rect">
            <a:avLst/>
          </a:prstGeom>
          <a:solidFill>
            <a:srgbClr val="EEE8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BD67EC7-753C-D859-E58A-00838063C6DB}"/>
              </a:ext>
            </a:extLst>
          </p:cNvPr>
          <p:cNvSpPr/>
          <p:nvPr/>
        </p:nvSpPr>
        <p:spPr>
          <a:xfrm>
            <a:off x="275939" y="3331933"/>
            <a:ext cx="2962795" cy="1636776"/>
          </a:xfrm>
          <a:prstGeom prst="rect">
            <a:avLst/>
          </a:prstGeom>
          <a:solidFill>
            <a:srgbClr val="EEE8FF"/>
          </a:solidFill>
          <a:ln w="12700">
            <a:solidFill>
              <a:srgbClr val="C3B5F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AC754B7-F5C9-357E-2006-87C8BC25CAFB}"/>
              </a:ext>
            </a:extLst>
          </p:cNvPr>
          <p:cNvSpPr/>
          <p:nvPr/>
        </p:nvSpPr>
        <p:spPr>
          <a:xfrm>
            <a:off x="1121040" y="2981562"/>
            <a:ext cx="137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Monitor</a:t>
            </a:r>
            <a:endParaRPr lang="en-US" sz="12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EC7992D-F709-1C62-44A8-35632DC9D7F3}"/>
              </a:ext>
            </a:extLst>
          </p:cNvPr>
          <p:cNvSpPr/>
          <p:nvPr/>
        </p:nvSpPr>
        <p:spPr>
          <a:xfrm>
            <a:off x="6164747" y="3290569"/>
            <a:ext cx="2943143" cy="1783080"/>
          </a:xfrm>
          <a:prstGeom prst="rect">
            <a:avLst/>
          </a:prstGeom>
          <a:solidFill>
            <a:srgbClr val="EEE8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341EA1E-77AE-208C-0FA0-56D5577EAB82}"/>
              </a:ext>
            </a:extLst>
          </p:cNvPr>
          <p:cNvSpPr/>
          <p:nvPr/>
        </p:nvSpPr>
        <p:spPr>
          <a:xfrm>
            <a:off x="6276095" y="3363721"/>
            <a:ext cx="2738196" cy="1636776"/>
          </a:xfrm>
          <a:prstGeom prst="rect">
            <a:avLst/>
          </a:prstGeom>
          <a:solidFill>
            <a:srgbClr val="EEE8FF"/>
          </a:solidFill>
          <a:ln w="12700">
            <a:solidFill>
              <a:srgbClr val="C3B5F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809B21C-AC20-3BE6-9F15-969A981AA593}"/>
              </a:ext>
            </a:extLst>
          </p:cNvPr>
          <p:cNvSpPr/>
          <p:nvPr/>
        </p:nvSpPr>
        <p:spPr>
          <a:xfrm>
            <a:off x="6938491" y="3003253"/>
            <a:ext cx="14559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Comparator</a:t>
            </a:r>
            <a:endParaRPr lang="en-US" sz="12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F341398-4674-4547-93EC-649CAFCDE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23" y="737373"/>
            <a:ext cx="2753968" cy="14871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E3223E4-A668-FEAB-5E32-31FE1E767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03" y="3350725"/>
            <a:ext cx="2692800" cy="159442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C3BD39B-FDE6-8A77-D005-1F0557AD33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949" y="3392530"/>
            <a:ext cx="2635923" cy="1576179"/>
          </a:xfrm>
          <a:prstGeom prst="rect">
            <a:avLst/>
          </a:prstGeom>
        </p:spPr>
      </p:pic>
      <p:sp>
        <p:nvSpPr>
          <p:cNvPr id="31" name="Shape 7">
            <a:extLst>
              <a:ext uri="{FF2B5EF4-FFF2-40B4-BE49-F238E27FC236}">
                <a16:creationId xmlns:a16="http://schemas.microsoft.com/office/drawing/2014/main" id="{A8F58602-F58A-E46F-A39A-16D7DBE8BF7C}"/>
              </a:ext>
            </a:extLst>
          </p:cNvPr>
          <p:cNvSpPr/>
          <p:nvPr/>
        </p:nvSpPr>
        <p:spPr>
          <a:xfrm>
            <a:off x="3333641" y="2159781"/>
            <a:ext cx="2770436" cy="1338220"/>
          </a:xfrm>
          <a:prstGeom prst="rect">
            <a:avLst/>
          </a:prstGeom>
          <a:solidFill>
            <a:srgbClr val="EEE8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29DE832C-A704-2D91-EEF7-57BA64AA1297}"/>
              </a:ext>
            </a:extLst>
          </p:cNvPr>
          <p:cNvSpPr/>
          <p:nvPr/>
        </p:nvSpPr>
        <p:spPr>
          <a:xfrm>
            <a:off x="3365266" y="2206600"/>
            <a:ext cx="2667469" cy="1230442"/>
          </a:xfrm>
          <a:prstGeom prst="rect">
            <a:avLst/>
          </a:prstGeom>
          <a:solidFill>
            <a:srgbClr val="EEE8FF"/>
          </a:solidFill>
          <a:ln w="12700">
            <a:solidFill>
              <a:srgbClr val="C3B5F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5BE4CAA-A02E-81B6-0126-88D0481F19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6417" y="705526"/>
            <a:ext cx="2718455" cy="151902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868C13B-C0A4-CE74-21CD-4E0112EFBF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6393" y="2254138"/>
            <a:ext cx="2539230" cy="1138392"/>
          </a:xfrm>
          <a:prstGeom prst="rect">
            <a:avLst/>
          </a:prstGeom>
        </p:spPr>
      </p:pic>
      <p:sp>
        <p:nvSpPr>
          <p:cNvPr id="37" name="Text 9">
            <a:extLst>
              <a:ext uri="{FF2B5EF4-FFF2-40B4-BE49-F238E27FC236}">
                <a16:creationId xmlns:a16="http://schemas.microsoft.com/office/drawing/2014/main" id="{D90264FC-E3DB-7FE7-F98B-215AB5A8E448}"/>
              </a:ext>
            </a:extLst>
          </p:cNvPr>
          <p:cNvSpPr/>
          <p:nvPr/>
        </p:nvSpPr>
        <p:spPr>
          <a:xfrm>
            <a:off x="3893424" y="1832249"/>
            <a:ext cx="144828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Details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46432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E5338-09D5-EB0C-E725-2F32771F5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0387A9-071C-0888-9DC9-BEA601AEC74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CC7B74-041A-5C32-1E94-DBEB88EC340F}"/>
              </a:ext>
            </a:extLst>
          </p:cNvPr>
          <p:cNvSpPr/>
          <p:nvPr/>
        </p:nvSpPr>
        <p:spPr>
          <a:xfrm>
            <a:off x="4096586" y="62284"/>
            <a:ext cx="1628965" cy="41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Studio</a:t>
            </a:r>
            <a:endParaRPr lang="en-US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966DD-F9A9-3CA3-9F12-6C612E973694}"/>
              </a:ext>
            </a:extLst>
          </p:cNvPr>
          <p:cNvSpPr txBox="1">
            <a:spLocks/>
          </p:cNvSpPr>
          <p:nvPr/>
        </p:nvSpPr>
        <p:spPr>
          <a:xfrm>
            <a:off x="267287" y="473042"/>
            <a:ext cx="3587262" cy="457022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100" dirty="0" err="1">
                <a:latin typeface="IBM Plex Sans" panose="020B0503050203000203" pitchFamily="34" charset="0"/>
              </a:rPr>
              <a:t>context_schema.yaml</a:t>
            </a:r>
            <a:r>
              <a:rPr lang="en-IN" sz="1100" dirty="0">
                <a:latin typeface="IBM Plex Sans" panose="020B0503050203000203" pitchFamily="34" charset="0"/>
              </a:rPr>
              <a:t> (812 lines)</a:t>
            </a:r>
          </a:p>
          <a:p>
            <a:pPr lvl="1"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System Architecture: Full-stack components definition</a:t>
            </a:r>
          </a:p>
          <a:p>
            <a:pPr lvl="1"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Backend API: 11 endpoints with complete specifications</a:t>
            </a:r>
          </a:p>
          <a:p>
            <a:pPr lvl="1"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Database Schema: 6 tables with relationships</a:t>
            </a:r>
          </a:p>
          <a:p>
            <a:pPr lvl="1"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Data Models: Request/response schemas with validation</a:t>
            </a:r>
          </a:p>
          <a:p>
            <a:pPr lvl="1"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ML Models: Random Forest + Gradient Boosting specs</a:t>
            </a:r>
          </a:p>
          <a:p>
            <a:pPr lvl="1"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Business Rules: Refund calculation logic</a:t>
            </a:r>
          </a:p>
          <a:p>
            <a:pPr>
              <a:defRPr sz="1300"/>
            </a:pPr>
            <a:endParaRPr lang="en-IN" sz="1100" dirty="0">
              <a:latin typeface="IBM Plex Sans" panose="020B0503050203000203" pitchFamily="34" charset="0"/>
            </a:endParaRPr>
          </a:p>
          <a:p>
            <a:pPr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refund-api-bulk-import-v2.json (465 lines)</a:t>
            </a:r>
          </a:p>
          <a:p>
            <a:pPr lvl="1"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11 REST API tool definitions for Context Forge</a:t>
            </a:r>
          </a:p>
          <a:p>
            <a:pPr lvl="1"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Complete JSON Schema validation for each tool</a:t>
            </a:r>
          </a:p>
          <a:p>
            <a:pPr lvl="1"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Ready for IBM ICA Agent Orchestration</a:t>
            </a:r>
          </a:p>
          <a:p>
            <a:pPr>
              <a:defRPr sz="1300"/>
            </a:pPr>
            <a:endParaRPr lang="en-IN" sz="1100" dirty="0">
              <a:latin typeface="IBM Plex Sans" panose="020B0503050203000203" pitchFamily="34" charset="0"/>
            </a:endParaRPr>
          </a:p>
          <a:p>
            <a:pPr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Knowledge Graph: 80+ nodes, 179+ relationships</a:t>
            </a:r>
          </a:p>
          <a:p>
            <a:pPr lvl="1">
              <a:defRPr sz="1300"/>
            </a:pPr>
            <a:r>
              <a:rPr lang="en-IN" sz="1100" dirty="0">
                <a:latin typeface="IBM Plex Sans" panose="020B0503050203000203" pitchFamily="34" charset="0"/>
              </a:rPr>
              <a:t>Entities: Bookings, Components, Events, Providers, Policies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053F0F6-9689-9A42-42C2-74B929346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7243" y="1673566"/>
            <a:ext cx="5103307" cy="24896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3" name="Text 9">
            <a:extLst>
              <a:ext uri="{FF2B5EF4-FFF2-40B4-BE49-F238E27FC236}">
                <a16:creationId xmlns:a16="http://schemas.microsoft.com/office/drawing/2014/main" id="{8262899C-40F4-B394-1357-27AAE8218BFC}"/>
              </a:ext>
            </a:extLst>
          </p:cNvPr>
          <p:cNvSpPr/>
          <p:nvPr/>
        </p:nvSpPr>
        <p:spPr>
          <a:xfrm>
            <a:off x="5784755" y="1247945"/>
            <a:ext cx="144828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Studio- Knowledge Graph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592033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D19B69-802F-8393-2172-04636FBEE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25D992-3169-AEDB-4488-09DB863C83E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2FDB35-1161-2948-0E22-9198BE333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888" y="554000"/>
            <a:ext cx="7030483" cy="45895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AA5DAC2-24DA-2FC1-56DF-E9E8820F649C}"/>
              </a:ext>
            </a:extLst>
          </p:cNvPr>
          <p:cNvSpPr/>
          <p:nvPr/>
        </p:nvSpPr>
        <p:spPr>
          <a:xfrm>
            <a:off x="4572000" y="-3216"/>
            <a:ext cx="506437" cy="41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40164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884284-4EBD-4040-B59F-7C5255304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8EA3160-337B-BE2F-B783-E66D40A74611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A24AAAD-BBE1-12C1-56AD-FD30923040A6}"/>
              </a:ext>
            </a:extLst>
          </p:cNvPr>
          <p:cNvSpPr/>
          <p:nvPr/>
        </p:nvSpPr>
        <p:spPr>
          <a:xfrm>
            <a:off x="4096586" y="62284"/>
            <a:ext cx="1628965" cy="41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76143-9CF8-A5CB-D1CD-4B686B76A0B3}"/>
              </a:ext>
            </a:extLst>
          </p:cNvPr>
          <p:cNvSpPr txBox="1">
            <a:spLocks/>
          </p:cNvSpPr>
          <p:nvPr/>
        </p:nvSpPr>
        <p:spPr>
          <a:xfrm>
            <a:off x="4277984" y="1986840"/>
            <a:ext cx="4701423" cy="311237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000" dirty="0">
                <a:latin typeface="IBM Plex Sans" panose="020B0503050203000203" pitchFamily="34" charset="0"/>
              </a:rPr>
              <a:t>refund-api-bulk-import-v2.json (465 lines)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v2-create-booking: POST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/bookings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v2-get-bookings: GET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/bookings (with pagination)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v2-get-booking-details: GET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/bookings/{id}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v2-estimate-refund: POST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/estimate-refund/{id} (ML-powered)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v2-get-refund-estimates: GET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/estimates/{id}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v2-get-risk-events: GET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/risk-events (global monitoring)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v2-get-regional-risk: GET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/risk-events/region/{region}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v2-get-historical-refunds: GET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/historical-refunds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v2-get-refund-statistics: GET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/statistics/refund-rates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v2-get-provider-policies: GET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/providers</a:t>
            </a:r>
          </a:p>
          <a:p>
            <a:pPr lvl="1"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v2-get-provider-policy: GET /</a:t>
            </a:r>
            <a:r>
              <a:rPr lang="en-IN" sz="1000" dirty="0" err="1">
                <a:latin typeface="IBM Plex Sans" panose="020B0503050203000203" pitchFamily="34" charset="0"/>
              </a:rPr>
              <a:t>api</a:t>
            </a:r>
            <a:r>
              <a:rPr lang="en-IN" sz="1000" dirty="0">
                <a:latin typeface="IBM Plex Sans" panose="020B0503050203000203" pitchFamily="34" charset="0"/>
              </a:rPr>
              <a:t>/providers/{name}</a:t>
            </a:r>
          </a:p>
          <a:p>
            <a:pPr>
              <a:defRPr sz="1200"/>
            </a:pPr>
            <a:endParaRPr lang="en-IN" sz="1000" dirty="0">
              <a:latin typeface="IBM Plex Sans" panose="020B0503050203000203" pitchFamily="34" charset="0"/>
            </a:endParaRPr>
          </a:p>
          <a:p>
            <a:pPr>
              <a:defRPr sz="1200"/>
            </a:pPr>
            <a:r>
              <a:rPr lang="en-IN" sz="1000" dirty="0">
                <a:latin typeface="IBM Plex Sans" panose="020B0503050203000203" pitchFamily="34" charset="0"/>
              </a:rPr>
              <a:t>Each tool: Complete JSON Schema, headers, authentication, descriptions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EACABEF-90D8-00FE-97B3-B84086AA97A1}"/>
              </a:ext>
            </a:extLst>
          </p:cNvPr>
          <p:cNvSpPr txBox="1">
            <a:spLocks/>
          </p:cNvSpPr>
          <p:nvPr/>
        </p:nvSpPr>
        <p:spPr>
          <a:xfrm>
            <a:off x="4277984" y="517406"/>
            <a:ext cx="4701424" cy="13395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000" dirty="0">
                <a:latin typeface="IBM Plex Sans" panose="020B0503050203000203" pitchFamily="34" charset="0"/>
              </a:rPr>
              <a:t>Model Context Protocol (MCP)</a:t>
            </a:r>
          </a:p>
          <a:p>
            <a:pPr lvl="1"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JSON-RPC 2.0 protocol for AI agent communication</a:t>
            </a:r>
          </a:p>
          <a:p>
            <a:pPr lvl="1"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7 tools exposed to IBM ICA agents</a:t>
            </a:r>
          </a:p>
          <a:p>
            <a:pPr lvl="1"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Custom implementation in backend/mcp_endpoint_simple.py</a:t>
            </a:r>
          </a:p>
          <a:p>
            <a:pPr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Public Access:</a:t>
            </a:r>
          </a:p>
          <a:p>
            <a:pPr lvl="1">
              <a:defRPr sz="1400"/>
            </a:pPr>
            <a:r>
              <a:rPr lang="en-IN" sz="1000" dirty="0" err="1">
                <a:latin typeface="IBM Plex Sans" panose="020B0503050203000203" pitchFamily="34" charset="0"/>
              </a:rPr>
              <a:t>ngrok</a:t>
            </a:r>
            <a:r>
              <a:rPr lang="en-IN" sz="1000" dirty="0">
                <a:latin typeface="IBM Plex Sans" panose="020B0503050203000203" pitchFamily="34" charset="0"/>
              </a:rPr>
              <a:t> tunnel: https://famished-vertebrae-basil.ngrok-free.dev/mcp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8E578E5-D768-FE63-28F8-AEE53CAD35B0}"/>
              </a:ext>
            </a:extLst>
          </p:cNvPr>
          <p:cNvSpPr txBox="1">
            <a:spLocks/>
          </p:cNvSpPr>
          <p:nvPr/>
        </p:nvSpPr>
        <p:spPr>
          <a:xfrm>
            <a:off x="164593" y="2831218"/>
            <a:ext cx="4005072" cy="226799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>
                <a:latin typeface="IBM Plex Sans" panose="020B0503050203000203" pitchFamily="34" charset="0"/>
              </a:rPr>
              <a:t>Basic Agent Creation</a:t>
            </a:r>
          </a:p>
          <a:p>
            <a:pPr lvl="1">
              <a:defRPr sz="1400"/>
            </a:pPr>
            <a:r>
              <a:rPr lang="en-US" sz="1000" dirty="0">
                <a:latin typeface="IBM Plex Sans" panose="020B0503050203000203" pitchFamily="34" charset="0"/>
              </a:rPr>
              <a:t>Created </a:t>
            </a:r>
            <a:r>
              <a:rPr lang="en-US" sz="1000" dirty="0" err="1">
                <a:latin typeface="IBM Plex Sans" panose="020B0503050203000203" pitchFamily="34" charset="0"/>
              </a:rPr>
              <a:t>TravelRefundAdvisor</a:t>
            </a:r>
            <a:r>
              <a:rPr lang="en-US" sz="1000" dirty="0">
                <a:latin typeface="IBM Plex Sans" panose="020B0503050203000203" pitchFamily="34" charset="0"/>
              </a:rPr>
              <a:t> in Agent Studio</a:t>
            </a:r>
          </a:p>
          <a:p>
            <a:pPr lvl="1">
              <a:defRPr sz="1400"/>
            </a:pPr>
            <a:r>
              <a:rPr lang="en-US" sz="1000" dirty="0">
                <a:latin typeface="IBM Plex Sans" panose="020B0503050203000203" pitchFamily="34" charset="0"/>
              </a:rPr>
              <a:t>Conversational interface configured</a:t>
            </a:r>
          </a:p>
          <a:p>
            <a:pPr>
              <a:defRPr sz="1400"/>
            </a:pPr>
            <a:r>
              <a:rPr lang="en-US" sz="1000" dirty="0">
                <a:latin typeface="IBM Plex Sans" panose="020B0503050203000203" pitchFamily="34" charset="0"/>
              </a:rPr>
              <a:t>Agent Orchestration</a:t>
            </a:r>
          </a:p>
          <a:p>
            <a:pPr lvl="1">
              <a:defRPr sz="1400"/>
            </a:pPr>
            <a:r>
              <a:rPr lang="en-US" sz="1000" dirty="0" err="1">
                <a:latin typeface="IBM Plex Sans" panose="020B0503050203000203" pitchFamily="34" charset="0"/>
              </a:rPr>
              <a:t>LangGraph</a:t>
            </a:r>
            <a:r>
              <a:rPr lang="en-US" sz="1000" dirty="0">
                <a:latin typeface="IBM Plex Sans" panose="020B0503050203000203" pitchFamily="34" charset="0"/>
              </a:rPr>
              <a:t> + </a:t>
            </a:r>
            <a:r>
              <a:rPr lang="en-US" sz="1000" dirty="0" err="1">
                <a:latin typeface="IBM Plex Sans" panose="020B0503050203000203" pitchFamily="34" charset="0"/>
              </a:rPr>
              <a:t>ReAct</a:t>
            </a:r>
            <a:r>
              <a:rPr lang="en-US" sz="1000" dirty="0">
                <a:latin typeface="IBM Plex Sans" panose="020B0503050203000203" pitchFamily="34" charset="0"/>
              </a:rPr>
              <a:t> pattern</a:t>
            </a:r>
          </a:p>
          <a:p>
            <a:pPr lvl="1">
              <a:defRPr sz="1400"/>
            </a:pPr>
            <a:r>
              <a:rPr lang="en-US" sz="1000" dirty="0">
                <a:latin typeface="IBM Plex Sans" panose="020B0503050203000203" pitchFamily="34" charset="0"/>
              </a:rPr>
              <a:t>gpt-5.2 model</a:t>
            </a:r>
          </a:p>
          <a:p>
            <a:pPr lvl="1">
              <a:defRPr sz="1400"/>
            </a:pPr>
            <a:r>
              <a:rPr lang="en-US" sz="1000" dirty="0">
                <a:latin typeface="IBM Plex Sans" panose="020B0503050203000203" pitchFamily="34" charset="0"/>
              </a:rPr>
              <a:t>All 7 MCP tools integrated</a:t>
            </a:r>
          </a:p>
          <a:p>
            <a:pPr>
              <a:defRPr sz="1400"/>
            </a:pPr>
            <a:r>
              <a:rPr lang="en-US" sz="1000" dirty="0">
                <a:latin typeface="IBM Plex Sans" panose="020B0503050203000203" pitchFamily="34" charset="0"/>
              </a:rPr>
              <a:t>Linking to MCP Server</a:t>
            </a:r>
          </a:p>
          <a:p>
            <a:pPr lvl="1">
              <a:defRPr sz="1400"/>
            </a:pPr>
            <a:r>
              <a:rPr lang="en-US" sz="1000" dirty="0">
                <a:latin typeface="IBM Plex Sans" panose="020B0503050203000203" pitchFamily="34" charset="0"/>
              </a:rPr>
              <a:t>Registered External MCP Server in ICA Tools</a:t>
            </a:r>
          </a:p>
          <a:p>
            <a:pPr lvl="1">
              <a:defRPr sz="1400"/>
            </a:pPr>
            <a:r>
              <a:rPr lang="en-US" sz="1000" dirty="0">
                <a:latin typeface="IBM Plex Sans" panose="020B0503050203000203" pitchFamily="34" charset="0"/>
              </a:rPr>
              <a:t>Tool discovery successful (7 tools)</a:t>
            </a:r>
          </a:p>
          <a:p>
            <a:pPr lvl="1">
              <a:defRPr sz="1400"/>
            </a:pPr>
            <a:r>
              <a:rPr lang="en-US" sz="1000" dirty="0">
                <a:latin typeface="IBM Plex Sans" panose="020B0503050203000203" pitchFamily="34" charset="0"/>
              </a:rPr>
              <a:t>End-to-end integration working</a:t>
            </a:r>
          </a:p>
          <a:p>
            <a:pPr lvl="1">
              <a:defRPr sz="1400"/>
            </a:pPr>
            <a:r>
              <a:rPr lang="en-US" sz="1000" dirty="0">
                <a:latin typeface="IBM Plex Sans" panose="020B0503050203000203" pitchFamily="34" charset="0"/>
              </a:rPr>
              <a:t>Agent successfully calling tools and retrieving data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55C5D5B-86B4-42BC-05DD-662B33DFC82D}"/>
              </a:ext>
            </a:extLst>
          </p:cNvPr>
          <p:cNvSpPr txBox="1">
            <a:spLocks/>
          </p:cNvSpPr>
          <p:nvPr/>
        </p:nvSpPr>
        <p:spPr>
          <a:xfrm>
            <a:off x="164592" y="517405"/>
            <a:ext cx="4005072" cy="2267998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000" dirty="0">
                <a:latin typeface="IBM Plex Sans" panose="020B0503050203000203" pitchFamily="34" charset="0"/>
              </a:rPr>
              <a:t>IBM ICA Platform</a:t>
            </a:r>
          </a:p>
          <a:p>
            <a:pPr lvl="1"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Agent Orchestration (</a:t>
            </a:r>
            <a:r>
              <a:rPr lang="en-IN" sz="1000" dirty="0" err="1">
                <a:latin typeface="IBM Plex Sans" panose="020B0503050203000203" pitchFamily="34" charset="0"/>
              </a:rPr>
              <a:t>LangGraph</a:t>
            </a:r>
            <a:r>
              <a:rPr lang="en-IN" sz="1000" dirty="0">
                <a:latin typeface="IBM Plex Sans" panose="020B0503050203000203" pitchFamily="34" charset="0"/>
              </a:rPr>
              <a:t> + </a:t>
            </a:r>
            <a:r>
              <a:rPr lang="en-IN" sz="1000" dirty="0" err="1">
                <a:latin typeface="IBM Plex Sans" panose="020B0503050203000203" pitchFamily="34" charset="0"/>
              </a:rPr>
              <a:t>ReAct</a:t>
            </a:r>
            <a:r>
              <a:rPr lang="en-IN" sz="1000" dirty="0">
                <a:latin typeface="IBM Plex Sans" panose="020B0503050203000203" pitchFamily="34" charset="0"/>
              </a:rPr>
              <a:t>)</a:t>
            </a:r>
          </a:p>
          <a:p>
            <a:pPr lvl="1"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MCP Server (External) - Tool discovery &amp; calling</a:t>
            </a:r>
          </a:p>
          <a:p>
            <a:pPr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Local Development Environment</a:t>
            </a:r>
          </a:p>
          <a:p>
            <a:pPr lvl="1">
              <a:defRPr sz="1400"/>
            </a:pPr>
            <a:r>
              <a:rPr lang="en-IN" sz="1000" dirty="0" err="1">
                <a:latin typeface="IBM Plex Sans" panose="020B0503050203000203" pitchFamily="34" charset="0"/>
              </a:rPr>
              <a:t>FastAPI</a:t>
            </a:r>
            <a:r>
              <a:rPr lang="en-IN" sz="1000" dirty="0">
                <a:latin typeface="IBM Plex Sans" panose="020B0503050203000203" pitchFamily="34" charset="0"/>
              </a:rPr>
              <a:t> Backend - 11 REST endpoints, MCP endpoint</a:t>
            </a:r>
          </a:p>
          <a:p>
            <a:pPr lvl="1"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ML Models - Random Forest + Gradient Boosting</a:t>
            </a:r>
          </a:p>
          <a:p>
            <a:pPr lvl="1"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SQLite Database - 6 tables with relationships</a:t>
            </a:r>
          </a:p>
          <a:p>
            <a:pPr lvl="1"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React Frontend - 7 pages, interactive charts</a:t>
            </a:r>
          </a:p>
          <a:p>
            <a:pPr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Integration Layer</a:t>
            </a:r>
          </a:p>
          <a:p>
            <a:pPr lvl="1"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JSON-RPC 2.0 protocol</a:t>
            </a:r>
          </a:p>
          <a:p>
            <a:pPr lvl="1">
              <a:defRPr sz="1400"/>
            </a:pPr>
            <a:r>
              <a:rPr lang="en-IN" sz="1000" dirty="0" err="1">
                <a:latin typeface="IBM Plex Sans" panose="020B0503050203000203" pitchFamily="34" charset="0"/>
              </a:rPr>
              <a:t>ngrok</a:t>
            </a:r>
            <a:r>
              <a:rPr lang="en-IN" sz="1000" dirty="0">
                <a:latin typeface="IBM Plex Sans" panose="020B0503050203000203" pitchFamily="34" charset="0"/>
              </a:rPr>
              <a:t> tunnel for public access</a:t>
            </a:r>
          </a:p>
          <a:p>
            <a:pPr lvl="1">
              <a:defRPr sz="1400"/>
            </a:pPr>
            <a:r>
              <a:rPr lang="en-IN" sz="1000" dirty="0">
                <a:latin typeface="IBM Plex Sans" panose="020B0503050203000203" pitchFamily="34" charset="0"/>
              </a:rPr>
              <a:t>HTTPS communication</a:t>
            </a:r>
          </a:p>
        </p:txBody>
      </p:sp>
    </p:spTree>
    <p:extLst>
      <p:ext uri="{BB962C8B-B14F-4D97-AF65-F5344CB8AC3E}">
        <p14:creationId xmlns:p14="http://schemas.microsoft.com/office/powerpoint/2010/main" val="303425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5E858-5012-BCA7-1630-78AD783BF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9B54F1A-AACD-575B-0D67-AAAEBFBCD364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A1F3E6-B880-959A-1DD2-A92DC090A31C}"/>
              </a:ext>
            </a:extLst>
          </p:cNvPr>
          <p:cNvSpPr/>
          <p:nvPr/>
        </p:nvSpPr>
        <p:spPr>
          <a:xfrm>
            <a:off x="3877339" y="149903"/>
            <a:ext cx="1389321" cy="41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Start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56D664-09D0-4BA1-70A0-C54396DDC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187" y="712309"/>
            <a:ext cx="7681626" cy="37188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2174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2C8E12-9BC3-3F72-6215-5C52887B8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021B83-C1F6-1514-E995-C024BC6A7829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CEA906-4500-E40C-69F3-E31AA647C009}"/>
              </a:ext>
            </a:extLst>
          </p:cNvPr>
          <p:cNvSpPr/>
          <p:nvPr/>
        </p:nvSpPr>
        <p:spPr>
          <a:xfrm>
            <a:off x="3877339" y="-61850"/>
            <a:ext cx="1763806" cy="41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Prompts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88E095-9798-B5F5-183D-B8B13F5F5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933" y="494576"/>
            <a:ext cx="4112327" cy="233705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9F6DB1-F4A9-907B-ADE7-16C1B653E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242" y="494576"/>
            <a:ext cx="3438154" cy="27828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9FD1D82-5CBE-0562-5436-FE02358130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933" y="2973365"/>
            <a:ext cx="4112327" cy="19541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9F1600-DFF9-DCA9-943D-E037608102E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0052"/>
          <a:stretch>
            <a:fillRect/>
          </a:stretch>
        </p:blipFill>
        <p:spPr>
          <a:xfrm>
            <a:off x="4759242" y="3449497"/>
            <a:ext cx="4288212" cy="14780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F55055D0-4807-F537-9196-F866D1911723}"/>
              </a:ext>
            </a:extLst>
          </p:cNvPr>
          <p:cNvSpPr/>
          <p:nvPr/>
        </p:nvSpPr>
        <p:spPr>
          <a:xfrm>
            <a:off x="135823" y="352846"/>
            <a:ext cx="236220" cy="215686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223AE9D-D2B1-69CC-38CC-34BD26D82125}"/>
              </a:ext>
            </a:extLst>
          </p:cNvPr>
          <p:cNvSpPr/>
          <p:nvPr/>
        </p:nvSpPr>
        <p:spPr>
          <a:xfrm>
            <a:off x="4659632" y="397403"/>
            <a:ext cx="236220" cy="215686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871982A-BD14-CC5F-9591-4975D0944B38}"/>
              </a:ext>
            </a:extLst>
          </p:cNvPr>
          <p:cNvSpPr/>
          <p:nvPr/>
        </p:nvSpPr>
        <p:spPr>
          <a:xfrm>
            <a:off x="150208" y="2865522"/>
            <a:ext cx="236220" cy="215686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9A61F7-2EAD-D6BA-D4F0-9F7FB7CE81C0}"/>
              </a:ext>
            </a:extLst>
          </p:cNvPr>
          <p:cNvSpPr/>
          <p:nvPr/>
        </p:nvSpPr>
        <p:spPr>
          <a:xfrm>
            <a:off x="4641132" y="3341654"/>
            <a:ext cx="236220" cy="215686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51412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81F078-05CD-0F72-D91C-99CC7F3A1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E972F05-8045-85AD-E632-1434C254D205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0F56BE0-D331-263D-EC71-EFE07B97D2EE}"/>
              </a:ext>
            </a:extLst>
          </p:cNvPr>
          <p:cNvSpPr/>
          <p:nvPr/>
        </p:nvSpPr>
        <p:spPr>
          <a:xfrm>
            <a:off x="3653947" y="0"/>
            <a:ext cx="1836105" cy="41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Agent  Test</a:t>
            </a:r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E873F8C-CB06-CD1E-0656-29D14C47B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42" y="515299"/>
            <a:ext cx="3914489" cy="44875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83224D-9F05-BED9-5368-791B3A8A81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02"/>
          <a:stretch>
            <a:fillRect/>
          </a:stretch>
        </p:blipFill>
        <p:spPr>
          <a:xfrm>
            <a:off x="4375053" y="515299"/>
            <a:ext cx="4616002" cy="438018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4889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79B079-16F8-DF23-7254-F16B5A3EE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7F9F681-C038-BEC6-3AEA-4FF0AFC814EA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9F21876-A40E-3D82-1BFC-A3354AF08703}"/>
              </a:ext>
            </a:extLst>
          </p:cNvPr>
          <p:cNvSpPr/>
          <p:nvPr/>
        </p:nvSpPr>
        <p:spPr>
          <a:xfrm>
            <a:off x="3444511" y="366061"/>
            <a:ext cx="1804811" cy="41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Impact</a:t>
            </a:r>
            <a:endParaRPr lang="en-US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30E8B90-2E7D-75F8-CDE7-1ECC53E229FA}"/>
              </a:ext>
            </a:extLst>
          </p:cNvPr>
          <p:cNvSpPr txBox="1">
            <a:spLocks/>
          </p:cNvSpPr>
          <p:nvPr/>
        </p:nvSpPr>
        <p:spPr>
          <a:xfrm>
            <a:off x="2304171" y="883921"/>
            <a:ext cx="4249029" cy="318515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050" dirty="0">
                <a:latin typeface="IBM Plex Sans" panose="020B0503050203000203" pitchFamily="34" charset="0"/>
              </a:rPr>
              <a:t>Quantitative Results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11 API endpoints - All functional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7 MCP tools - Successfully integrated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95% confidence intervals - Uncertainty quantification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53 sample bookings - Realistic synthetic test data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500+ historical records - ML training data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100% success rate - All demo prompts working</a:t>
            </a:r>
          </a:p>
          <a:p>
            <a:pPr>
              <a:defRPr sz="1300"/>
            </a:pPr>
            <a:endParaRPr lang="en-IN" sz="1050" dirty="0">
              <a:latin typeface="IBM Plex Sans" panose="020B0503050203000203" pitchFamily="34" charset="0"/>
            </a:endParaRPr>
          </a:p>
          <a:p>
            <a:pPr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Qualitative Impact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Customer Experience: Instant, transparent estimates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Business Efficiency: Automated vs manual process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Risk Management: Real-time global monitoring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AI Transparency: Explainable predictions</a:t>
            </a:r>
          </a:p>
          <a:p>
            <a:pPr lvl="1">
              <a:defRPr sz="1300"/>
            </a:pPr>
            <a:r>
              <a:rPr lang="en-IN" sz="1050" dirty="0">
                <a:latin typeface="IBM Plex Sans" panose="020B0503050203000203" pitchFamily="34" charset="0"/>
              </a:rPr>
              <a:t>Enterprise Ready: IBM ICA integration</a:t>
            </a:r>
          </a:p>
        </p:txBody>
      </p:sp>
    </p:spTree>
    <p:extLst>
      <p:ext uri="{BB962C8B-B14F-4D97-AF65-F5344CB8AC3E}">
        <p14:creationId xmlns:p14="http://schemas.microsoft.com/office/powerpoint/2010/main" val="4070624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C5CB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1148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&amp; Next Steps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Delivered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444752"/>
            <a:ext cx="47548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Faster refund decisions — model-backed, not manual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2148840"/>
            <a:ext cx="47548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48640" y="21488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Scenario analysis across 4 estimation models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2852928"/>
            <a:ext cx="47548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48640" y="285292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Historical analytics for explainability &amp; audit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3557016"/>
            <a:ext cx="47548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355701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Real-time operational awareness via notifications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349240" y="1005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BA3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349240" y="1444752"/>
            <a:ext cx="3566160" cy="566928"/>
          </a:xfrm>
          <a:prstGeom prst="rect">
            <a:avLst/>
          </a:prstGeom>
          <a:solidFill>
            <a:srgbClr val="FFF4D6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486400" y="14447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Persistent notifications &amp; role-based access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49240" y="2148840"/>
            <a:ext cx="3566160" cy="566928"/>
          </a:xfrm>
          <a:prstGeom prst="rect">
            <a:avLst/>
          </a:prstGeom>
          <a:solidFill>
            <a:srgbClr val="FFF4D6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486400" y="21488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Live external risk feed integration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49240" y="2852928"/>
            <a:ext cx="3566160" cy="566928"/>
          </a:xfrm>
          <a:prstGeom prst="rect">
            <a:avLst/>
          </a:prstGeom>
          <a:solidFill>
            <a:srgbClr val="FFF4D6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486400" y="285292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Provider-specific refund policy intelligence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49240" y="3557016"/>
            <a:ext cx="3566160" cy="566928"/>
          </a:xfrm>
          <a:prstGeom prst="rect">
            <a:avLst/>
          </a:prstGeom>
          <a:solidFill>
            <a:srgbClr val="FFF4D6"/>
          </a:solidFill>
          <a:ln/>
          <a:effectLst>
            <a:outerShdw blurRad="63500" dist="25400" dir="8100000" algn="bl" rotWithShape="0">
              <a:srgbClr val="B0A8CC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486400" y="35570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Model benchmarking &amp; exportable reports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4663440"/>
            <a:ext cx="8503920" cy="347472"/>
          </a:xfrm>
          <a:prstGeom prst="rect">
            <a:avLst/>
          </a:prstGeom>
          <a:solidFill>
            <a:srgbClr val="7C5CB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11480" y="46634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Intelligence Platform  ·  AI-assisted decision support under uncertainty  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D122AF-FEF9-2C97-3AA9-28466C9B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D733000-DA24-4221-94CC-F1902FBA17FC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A3C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C024DD1-56DD-AEE8-BD0E-CA753E1EBC3E}"/>
              </a:ext>
            </a:extLst>
          </p:cNvPr>
          <p:cNvSpPr txBox="1">
            <a:spLocks/>
          </p:cNvSpPr>
          <p:nvPr/>
        </p:nvSpPr>
        <p:spPr>
          <a:xfrm>
            <a:off x="830580" y="834097"/>
            <a:ext cx="7856220" cy="380648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latin typeface="IBM Plex Sans" panose="020B0503050203000203" pitchFamily="34" charset="0"/>
              </a:rPr>
              <a:t>Complete System Built in 48 Hours</a:t>
            </a:r>
          </a:p>
          <a:p>
            <a:pPr>
              <a:defRPr sz="1600" b="0"/>
            </a:pPr>
            <a:endParaRPr lang="en-US" sz="1200" dirty="0">
              <a:latin typeface="IBM Plex Sans" panose="020B0503050203000203" pitchFamily="34" charset="0"/>
            </a:endParaRPr>
          </a:p>
          <a:p>
            <a:pPr>
              <a:defRPr sz="1600" b="1"/>
            </a:pPr>
            <a:r>
              <a:rPr lang="en-US" sz="1200" b="1" dirty="0">
                <a:latin typeface="IBM Plex Sans" panose="020B0503050203000203" pitchFamily="34" charset="0"/>
              </a:rPr>
              <a:t>Technical Excellence: Full-stack with ML and enterprise integration</a:t>
            </a:r>
          </a:p>
          <a:p>
            <a:pPr>
              <a:defRPr sz="1600" b="1"/>
            </a:pPr>
            <a:r>
              <a:rPr lang="en-US" sz="1200" b="1" dirty="0">
                <a:latin typeface="IBM Plex Sans" panose="020B0503050203000203" pitchFamily="34" charset="0"/>
              </a:rPr>
              <a:t>Innovation: Uncertainty quantification and AI transparency</a:t>
            </a:r>
          </a:p>
          <a:p>
            <a:pPr>
              <a:defRPr sz="1600" b="1"/>
            </a:pPr>
            <a:r>
              <a:rPr lang="en-US" sz="1200" b="1" dirty="0">
                <a:latin typeface="IBM Plex Sans" panose="020B0503050203000203" pitchFamily="34" charset="0"/>
              </a:rPr>
              <a:t>Business Value: Solves real travel industry problem</a:t>
            </a:r>
          </a:p>
          <a:p>
            <a:pPr>
              <a:defRPr sz="1600" b="1"/>
            </a:pPr>
            <a:r>
              <a:rPr lang="en-US" sz="1200" b="1" dirty="0">
                <a:latin typeface="IBM Plex Sans" panose="020B0503050203000203" pitchFamily="34" charset="0"/>
              </a:rPr>
              <a:t>Production Quality: Professional code, docs, testing</a:t>
            </a:r>
          </a:p>
          <a:p>
            <a:pPr>
              <a:defRPr sz="1600" b="0"/>
            </a:pPr>
            <a:endParaRPr lang="en-US" sz="1200" dirty="0">
              <a:latin typeface="IBM Plex Sans" panose="020B0503050203000203" pitchFamily="34" charset="0"/>
            </a:endParaRPr>
          </a:p>
          <a:p>
            <a:pPr marL="0" indent="0">
              <a:buNone/>
              <a:defRPr sz="1600" b="0"/>
            </a:pPr>
            <a:r>
              <a:rPr lang="en-US" sz="1200" dirty="0">
                <a:latin typeface="IBM Plex Sans" panose="020B0503050203000203" pitchFamily="34" charset="0"/>
              </a:rPr>
              <a:t>Integration with IBM ICA through MCP protocol showcases how modern AI agents can connect to specialized business applications, creating powerful, transparent, user-friendly solutions.</a:t>
            </a:r>
          </a:p>
          <a:p>
            <a:pPr>
              <a:defRPr sz="1600" b="0"/>
            </a:pPr>
            <a:endParaRPr lang="en-US" sz="1200" dirty="0">
              <a:latin typeface="IBM Plex Sans" panose="020B0503050203000203" pitchFamily="34" charset="0"/>
            </a:endParaRPr>
          </a:p>
          <a:p>
            <a:pPr marL="0" indent="0">
              <a:buNone/>
              <a:defRPr sz="1600" b="0"/>
            </a:pPr>
            <a:r>
              <a:rPr lang="en-US" sz="1200" dirty="0">
                <a:latin typeface="IBM Plex Sans" panose="020B0503050203000203" pitchFamily="34" charset="0"/>
              </a:rPr>
              <a:t>This project represents the future of AI-powered business applications that are intelligent, explainable, and seamlessly integrated.</a:t>
            </a: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EFC85F9C-043C-D794-68BE-DAE8FD0BB703}"/>
              </a:ext>
            </a:extLst>
          </p:cNvPr>
          <p:cNvSpPr/>
          <p:nvPr/>
        </p:nvSpPr>
        <p:spPr>
          <a:xfrm>
            <a:off x="3730285" y="419401"/>
            <a:ext cx="1804811" cy="41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06215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2106</TotalTime>
  <Words>1052</Words>
  <Application>Microsoft Office PowerPoint</Application>
  <PresentationFormat>On-screen Show (16:9)</PresentationFormat>
  <Paragraphs>189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Refund Intelligence Platform</dc:title>
  <dc:subject>PptxGenJS Presentation</dc:subject>
  <dc:creator>PptxGenJS</dc:creator>
  <cp:lastModifiedBy>Abhijit Joshi</cp:lastModifiedBy>
  <cp:revision>15</cp:revision>
  <dcterms:created xsi:type="dcterms:W3CDTF">2026-05-19T06:07:40Z</dcterms:created>
  <dcterms:modified xsi:type="dcterms:W3CDTF">2026-05-23T18:53:57Z</dcterms:modified>
</cp:coreProperties>
</file>